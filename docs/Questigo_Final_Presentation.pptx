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7" r:id="rId27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86868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4F6FB"/>
                </a:solidFill>
                <a:latin typeface="Segoe UI"/>
              </a:rP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7904" y="93268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4F6FB"/>
                </a:solidFill>
                <a:latin typeface="Segoe UI"/>
              </a:rPr>
              <a:t>QUESTIGO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31673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A78BFA"/>
                </a:solidFill>
                <a:latin typeface="Segoe UI"/>
              </a:rPr>
              <a:t>MCA MAJOR PROJECT  •  IV SEMESTER  •  2025–26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10607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F4F6FB"/>
                </a:solidFill>
                <a:latin typeface="Segoe UI"/>
              </a:rPr>
              <a:t>Game-Based Interactive </a:t>
            </a:r>
            <a:r>
              <a:rPr sz="4600" b="1" i="0">
                <a:solidFill>
                  <a:srgbClr val="A78BFA"/>
                </a:solidFill>
                <a:latin typeface="Segoe UI"/>
              </a:rPr>
              <a:t>Learning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6582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C7D0DE"/>
                </a:solidFill>
                <a:latin typeface="Segoe UI"/>
              </a:rPr>
              <a:t>An AI-Assisted Platform for Learning Programming Concepts through Interactive Game Mechanics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43400"/>
            <a:ext cx="5074920" cy="123444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45262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8B97A9"/>
                </a:solidFill>
                <a:latin typeface="Segoe UI"/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800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F4F6FB"/>
                </a:solidFill>
                <a:latin typeface="Segoe UI"/>
              </a:rPr>
              <a:t>M. Akshay Yadav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846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7D0DE"/>
                </a:solidFill>
                <a:latin typeface="Segoe UI"/>
              </a:rPr>
              <a:t>Roll No. 100524862041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8192" y="4343400"/>
            <a:ext cx="5074920" cy="123444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45262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8B97A9"/>
                </a:solidFill>
                <a:latin typeface="Segoe UI"/>
              </a:rPr>
              <a:t>PROJECT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4800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F4F6FB"/>
                </a:solidFill>
                <a:latin typeface="Segoe UI"/>
              </a:rPr>
              <a:t>Dr. V. Sukanya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51846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7D0DE"/>
                </a:solidFill>
                <a:latin typeface="Segoe UI"/>
              </a:rPr>
              <a:t>Department of CSE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515600" cy="440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IN" sz="1250" b="1" i="0" dirty="0">
                <a:solidFill>
                  <a:srgbClr val="C7D0DE"/>
                </a:solidFill>
                <a:latin typeface="Segoe UI"/>
              </a:rPr>
              <a:t>MCA II Year IV Semester</a:t>
            </a:r>
            <a:endParaRPr sz="1250" b="1" i="0" dirty="0">
              <a:solidFill>
                <a:srgbClr val="C7D0DE"/>
              </a:solidFill>
              <a:latin typeface="Segoe UI"/>
            </a:endParaRPr>
          </a:p>
          <a:p>
            <a:pPr algn="l">
              <a:lnSpc>
                <a:spcPct val="120000"/>
              </a:lnSpc>
            </a:pPr>
            <a:r>
              <a:rPr sz="1250" b="0" i="0" dirty="0">
                <a:solidFill>
                  <a:srgbClr val="8B97A9"/>
                </a:solidFill>
                <a:latin typeface="Segoe UI"/>
              </a:rPr>
              <a:t>University College of Engineering (A), Osmania University, Hyderabad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Agenda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74519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1874519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C7D0DE"/>
                </a:solidFill>
                <a:latin typeface="Segoe UI"/>
              </a:rPr>
              <a:t>Problem Statement &amp; 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8775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58775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587752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C7D0DE"/>
                </a:solidFill>
                <a:latin typeface="Segoe UI"/>
              </a:rPr>
              <a:t>Literature Survey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300984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30098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300984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C7D0DE"/>
                </a:solidFill>
                <a:latin typeface="Segoe UI"/>
              </a:rPr>
              <a:t>Proposed System &amp; Uniqueness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014215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014215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4014215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C7D0DE"/>
                </a:solidFill>
                <a:latin typeface="Segoe UI"/>
              </a:rPr>
              <a:t>Methodology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72744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7274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4727448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C7D0DE"/>
                </a:solidFill>
                <a:latin typeface="Segoe UI"/>
              </a:rPr>
              <a:t>System Architecture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44068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440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5440680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C7D0DE"/>
                </a:solidFill>
                <a:latin typeface="Segoe UI"/>
              </a:rPr>
              <a:t>Technology Stack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874519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1874519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1874519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C7D0DE"/>
                </a:solidFill>
                <a:latin typeface="Segoe UI"/>
              </a:rPr>
              <a:t>Database Design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587752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258775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2587752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4F6FB"/>
                </a:solidFill>
                <a:latin typeface="Segoe UI"/>
              </a:rPr>
              <a:t>Implementation — Modules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300984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330098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3300984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4F6FB"/>
                </a:solidFill>
                <a:latin typeface="Segoe UI"/>
              </a:rPr>
              <a:t>Feature Walkthrough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014215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4014215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4014215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4F6FB"/>
                </a:solidFill>
                <a:latin typeface="Segoe UI"/>
              </a:rPr>
              <a:t>Results &amp; Analysis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72744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0" y="47274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4727448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4F6FB"/>
                </a:solidFill>
                <a:latin typeface="Segoe UI"/>
              </a:rPr>
              <a:t>Future Scope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544068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60" y="5440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7728" y="5440680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C7D0DE"/>
                </a:solidFill>
                <a:latin typeface="Segoe UI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Problem Statement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64922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A78BFA"/>
                </a:solidFill>
                <a:latin typeface="Segoe UI"/>
              </a:rPr>
              <a:t>▸  </a:t>
            </a:r>
            <a:r>
              <a:rPr sz="1600" b="1">
                <a:solidFill>
                  <a:srgbClr val="C7D0DE"/>
                </a:solidFill>
                <a:latin typeface="Segoe UI"/>
              </a:rPr>
              <a:t>Passive learning methods (MCQs) </a:t>
            </a:r>
            <a:r>
              <a:rPr sz="1600">
                <a:solidFill>
                  <a:srgbClr val="C7D0DE"/>
                </a:solidFill>
                <a:latin typeface="Segoe UI"/>
              </a:rPr>
              <a:t>fail to build logic and problem-solving skills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A78BFA"/>
                </a:solidFill>
                <a:latin typeface="Segoe UI"/>
              </a:rPr>
              <a:t>▸  </a:t>
            </a:r>
            <a:r>
              <a:rPr sz="1600" b="1">
                <a:solidFill>
                  <a:srgbClr val="C7D0DE"/>
                </a:solidFill>
                <a:latin typeface="Segoe UI"/>
              </a:rPr>
              <a:t>Abstract programming concepts </a:t>
            </a:r>
            <a:r>
              <a:rPr sz="1600">
                <a:solidFill>
                  <a:srgbClr val="C7D0DE"/>
                </a:solidFill>
                <a:latin typeface="Segoe UI"/>
              </a:rPr>
              <a:t>are difficult to visualize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A78BFA"/>
                </a:solidFill>
                <a:latin typeface="Segoe UI"/>
              </a:rPr>
              <a:t>▸  </a:t>
            </a:r>
            <a:r>
              <a:rPr sz="1600" b="1">
                <a:solidFill>
                  <a:srgbClr val="C7D0DE"/>
                </a:solidFill>
                <a:latin typeface="Segoe UI"/>
              </a:rPr>
              <a:t>Low interactivity </a:t>
            </a:r>
            <a:r>
              <a:rPr sz="1600">
                <a:solidFill>
                  <a:srgbClr val="C7D0DE"/>
                </a:solidFill>
                <a:latin typeface="Segoe UI"/>
              </a:rPr>
              <a:t>leads to loss of motivation and engagement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A78BFA"/>
                </a:solidFill>
                <a:latin typeface="Segoe UI"/>
              </a:rPr>
              <a:t>▸  </a:t>
            </a:r>
            <a:r>
              <a:rPr sz="1600" b="1">
                <a:solidFill>
                  <a:srgbClr val="C7D0DE"/>
                </a:solidFill>
                <a:latin typeface="Segoe UI"/>
              </a:rPr>
              <a:t>High manual effort </a:t>
            </a:r>
            <a:r>
              <a:rPr sz="1600">
                <a:solidFill>
                  <a:srgbClr val="C7D0DE"/>
                </a:solidFill>
                <a:latin typeface="Segoe UI"/>
              </a:rPr>
              <a:t>is required from teachers to create exercises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A78BFA"/>
                </a:solidFill>
                <a:latin typeface="Segoe UI"/>
              </a:rPr>
              <a:t>▸  </a:t>
            </a:r>
            <a:r>
              <a:rPr sz="1600" b="1">
                <a:solidFill>
                  <a:srgbClr val="C7D0DE"/>
                </a:solidFill>
                <a:latin typeface="Segoe UI"/>
              </a:rPr>
              <a:t>Existing platforms </a:t>
            </a:r>
            <a:r>
              <a:rPr sz="1600">
                <a:solidFill>
                  <a:srgbClr val="C7D0DE"/>
                </a:solidFill>
                <a:latin typeface="Segoe UI"/>
              </a:rPr>
              <a:t>focus on content, ignoring the learning experience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874519"/>
            <a:ext cx="3611880" cy="356616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1874519"/>
            <a:ext cx="361188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21488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A78BFA"/>
                </a:solidFill>
                <a:latin typeface="Segoe UI"/>
              </a:rPr>
              <a:t>CORE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651760"/>
            <a:ext cx="32004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4F6FB"/>
                </a:solidFill>
                <a:latin typeface="Segoe UI"/>
              </a:rPr>
              <a:t>Students need a more engaging and practical way to understand programming concepts — beyond static quizzes.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Objectives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10378440" cy="105156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975104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A78BFA"/>
                </a:solidFill>
                <a:latin typeface="Segoe UI"/>
              </a:rPr>
              <a:t>PRIMARY
OBJECTIVE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2057400"/>
            <a:ext cx="0" cy="59436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08960" y="1828800"/>
            <a:ext cx="7955279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F4F6FB"/>
                </a:solidFill>
                <a:latin typeface="Segoe UI"/>
              </a:rPr>
              <a:t>Develop a gamified learning platform that enables students to learn programming concepts through interactive, game-based challenges.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546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8B97A9"/>
                </a:solidFill>
                <a:latin typeface="Segoe UI"/>
              </a:rPr>
              <a:t>SPECIFIC 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566160"/>
            <a:ext cx="5029200" cy="713232"/>
          </a:xfrm>
          <a:prstGeom prst="roundRect">
            <a:avLst>
              <a:gd name="adj" fmla="val 6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69848" y="3767328"/>
            <a:ext cx="310896" cy="31089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37398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3566160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Convert programming topics into structured game levels (Skill Tree)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566160"/>
            <a:ext cx="5029200" cy="713232"/>
          </a:xfrm>
          <a:prstGeom prst="roundRect">
            <a:avLst>
              <a:gd name="adj" fmla="val 6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27648" y="3767328"/>
            <a:ext cx="310896" cy="31089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37398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3566160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Enable teachers to create subjects and manage content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407408"/>
            <a:ext cx="5029200" cy="713232"/>
          </a:xfrm>
          <a:prstGeom prst="roundRect">
            <a:avLst>
              <a:gd name="adj" fmla="val 6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69848" y="4608576"/>
            <a:ext cx="310896" cy="31089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458114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407408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Integrate AI to assist in automatic level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407408"/>
            <a:ext cx="5029200" cy="713232"/>
          </a:xfrm>
          <a:prstGeom prst="roundRect">
            <a:avLst>
              <a:gd name="adj" fmla="val 6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27648" y="4608576"/>
            <a:ext cx="310896" cy="31089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27648" y="458114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4407408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Support multiple valid solutions for coding challenges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5248656"/>
            <a:ext cx="5029200" cy="713232"/>
          </a:xfrm>
          <a:prstGeom prst="roundRect">
            <a:avLst>
              <a:gd name="adj" fmla="val 6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69848" y="5449824"/>
            <a:ext cx="310896" cy="31089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" y="542239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7048" y="5248656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Track progress via XP, levels, achievements and ranking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5248656"/>
            <a:ext cx="5029200" cy="713232"/>
          </a:xfrm>
          <a:prstGeom prst="roundRect">
            <a:avLst>
              <a:gd name="adj" fmla="val 6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327648" y="5449824"/>
            <a:ext cx="310896" cy="31089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27648" y="542239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5248656"/>
            <a:ext cx="42062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Build a scalable, maintainable full-stack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Literature Survey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378440" cy="457200"/>
          </a:xfrm>
          <a:prstGeom prst="rect">
            <a:avLst/>
          </a:prstGeom>
          <a:solidFill>
            <a:srgbClr val="1C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18288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A78BFA"/>
                </a:solidFill>
                <a:latin typeface="Segoe UI"/>
              </a:rPr>
              <a:t>Author (Year)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18288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A78BFA"/>
                </a:solidFill>
                <a:latin typeface="Segoe UI"/>
              </a:rPr>
              <a:t>Contribution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182880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A78BFA"/>
                </a:solidFill>
                <a:latin typeface="Segoe UI"/>
              </a:rPr>
              <a:t>Identified Gap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286000"/>
            <a:ext cx="10378440" cy="566928"/>
          </a:xfrm>
          <a:prstGeom prst="rect">
            <a:avLst/>
          </a:prstGeom>
          <a:solidFill>
            <a:srgbClr val="16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1" y="228600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4F6FB"/>
                </a:solidFill>
                <a:latin typeface="Segoe UI"/>
              </a:rPr>
              <a:t>Deterding et al. (2011)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228600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7D0DE"/>
                </a:solidFill>
                <a:latin typeface="Segoe UI"/>
              </a:rPr>
              <a:t>Gamification design principles for digital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6952" y="2286000"/>
            <a:ext cx="3520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59E0B"/>
                </a:solidFill>
                <a:latin typeface="Segoe UI"/>
              </a:rPr>
              <a:t>Not specific to programming education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2852928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4F6FB"/>
                </a:solidFill>
                <a:latin typeface="Segoe UI"/>
              </a:rPr>
              <a:t>Hamari et al. (2014)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2852928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7D0DE"/>
                </a:solidFill>
                <a:latin typeface="Segoe UI"/>
              </a:rPr>
              <a:t>Gamification improves participation significantly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852928"/>
            <a:ext cx="3520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59E0B"/>
                </a:solidFill>
                <a:latin typeface="Segoe UI"/>
              </a:rPr>
              <a:t>No technical design for interactive coding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419856"/>
            <a:ext cx="10378440" cy="566928"/>
          </a:xfrm>
          <a:prstGeom prst="rect">
            <a:avLst/>
          </a:prstGeom>
          <a:solidFill>
            <a:srgbClr val="16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1" y="3419856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4F6FB"/>
                </a:solidFill>
                <a:latin typeface="Segoe UI"/>
              </a:rPr>
              <a:t>Code.org (2020)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6472" y="3419856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7D0DE"/>
                </a:solidFill>
                <a:latin typeface="Segoe UI"/>
              </a:rPr>
              <a:t>Benefits of visual coding for fundamentals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3419856"/>
            <a:ext cx="3520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59E0B"/>
                </a:solidFill>
                <a:latin typeface="Segoe UI"/>
              </a:rPr>
              <a:t>Limited teacher-customized learning paths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3986783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4F6FB"/>
                </a:solidFill>
                <a:latin typeface="Segoe UI"/>
              </a:rPr>
              <a:t>OpenAI Research (2023)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6472" y="3986783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7D0DE"/>
                </a:solidFill>
                <a:latin typeface="Segoe UI"/>
              </a:rPr>
              <a:t>Generative AI for educational explanations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3986783"/>
            <a:ext cx="3520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59E0B"/>
                </a:solidFill>
                <a:latin typeface="Segoe UI"/>
              </a:rPr>
              <a:t>Tutoring focus, not structured game systems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553712"/>
            <a:ext cx="10378440" cy="566928"/>
          </a:xfrm>
          <a:prstGeom prst="rect">
            <a:avLst/>
          </a:prstGeom>
          <a:solidFill>
            <a:srgbClr val="161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3271" y="4553712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4F6FB"/>
                </a:solidFill>
                <a:latin typeface="Segoe UI"/>
              </a:rPr>
              <a:t>Kumar et al. (2024)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4553712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7D0DE"/>
                </a:solidFill>
                <a:latin typeface="Segoe UI"/>
              </a:rPr>
              <a:t>Leaderboards increase learning persistence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4553712"/>
            <a:ext cx="3520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59E0B"/>
                </a:solidFill>
                <a:latin typeface="Segoe UI"/>
              </a:rPr>
              <a:t>Relies heavily on manually created 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1" y="5120640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4F6FB"/>
                </a:solidFill>
                <a:latin typeface="Segoe UI"/>
              </a:rPr>
              <a:t>Li et al. (2025)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6472" y="5120640"/>
            <a:ext cx="35661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7D0DE"/>
                </a:solidFill>
                <a:latin typeface="Segoe UI"/>
              </a:rPr>
              <a:t>LLMs auto-generate learning materials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2" y="5120640"/>
            <a:ext cx="3520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F59E0B"/>
                </a:solidFill>
                <a:latin typeface="Segoe UI"/>
              </a:rPr>
              <a:t>Not integrated into interactive game environments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8680" y="2286000"/>
            <a:ext cx="0" cy="3401568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68680" y="5852159"/>
            <a:ext cx="10378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A78BFA"/>
                </a:solidFill>
                <a:latin typeface="Segoe UI"/>
              </a:rPr>
              <a:t>Literature gap:  </a:t>
            </a:r>
            <a:r>
              <a:rPr sz="1250" b="0" i="0">
                <a:solidFill>
                  <a:srgbClr val="C7D0DE"/>
                </a:solidFill>
                <a:latin typeface="Segoe UI"/>
              </a:rPr>
              <a:t>gamification studies lack AI support · AI studies lack interactive game environments · both rely on manual content and offer little teacher-driven customization.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Proposed System &amp; Uniqueness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291840" cy="214884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3291840" cy="91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084831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4F6FB"/>
                </a:solidFill>
                <a:latin typeface="Segoe UI"/>
              </a:rPr>
              <a:t>Game-Centric Pedagogy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7D0DE"/>
                </a:solidFill>
                <a:latin typeface="Segoe UI"/>
              </a:rPr>
              <a:t>Programming concepts become interactive level mechanics — students rebuild broken systems instead of answering quizzes.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291840" cy="214884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32918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2084831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4F6FB"/>
                </a:solidFill>
                <a:latin typeface="Segoe UI"/>
              </a:rPr>
              <a:t>AI-Driven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74320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7D0DE"/>
                </a:solidFill>
                <a:latin typeface="Segoe UI"/>
              </a:rPr>
              <a:t>An LLM parses teacher notes/PDFs and auto-generates quest drafts: problem, tiles, distractors and test cases.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72983" y="1828800"/>
            <a:ext cx="3291840" cy="214884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72983" y="1828800"/>
            <a:ext cx="3291840" cy="91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01583" y="2084831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4F6FB"/>
                </a:solidFill>
                <a:latin typeface="Segoe UI"/>
              </a:rPr>
              <a:t>Dynamic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274320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7D0DE"/>
                </a:solidFill>
                <a:latin typeface="Segoe UI"/>
              </a:rPr>
              <a:t>A code-execution engine validates submissions against multiple test cases and supports varied valid solutions.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06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8B97A9"/>
                </a:solidFill>
                <a:latin typeface="Segoe UI"/>
              </a:rPr>
              <a:t>WHAT MAKES IT UNIQUE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99" y="4700015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A78BFA"/>
                </a:solidFill>
                <a:latin typeface="Segoe UI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45720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Learning through game mechanics, not quizzes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700015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A78BFA"/>
                </a:solidFill>
                <a:latin typeface="Segoe UI"/>
              </a:rPr>
              <a:t>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57200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AI-assisted level generation cuts manual effort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" y="523036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A78BFA"/>
                </a:solidFill>
                <a:latin typeface="Segoe UI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19" y="513892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Teacher-approval gate keeps AI content trustworthy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47329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A78BFA"/>
                </a:solidFill>
                <a:latin typeface="Segoe UI"/>
              </a:rPr>
              <a:t>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13892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Data-driven level design (content is data, not code)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5806440"/>
            <a:ext cx="10378440" cy="566928"/>
          </a:xfrm>
          <a:prstGeom prst="roundRect">
            <a:avLst>
              <a:gd name="adj" fmla="val 6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5806440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A78BFA"/>
                </a:solidFill>
                <a:latin typeface="Segoe UI"/>
              </a:rPr>
              <a:t>Contribution:  </a:t>
            </a:r>
            <a:r>
              <a:rPr sz="1400" b="1" i="0">
                <a:solidFill>
                  <a:srgbClr val="F4F6FB"/>
                </a:solidFill>
                <a:latin typeface="Segoe UI"/>
              </a:rPr>
              <a:t>bridges the gap between theoretical learning and practical coding skill.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Methodology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C7D0DE"/>
                </a:solidFill>
                <a:latin typeface="Segoe UI"/>
              </a:rPr>
              <a:t>Iterative, phase-driven development — build visible end-to-end features first, then extend.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3172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7C3AED"/>
                </a:solidFill>
                <a:latin typeface="Segoe UI"/>
              </a:rPr>
              <a:t>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2331720"/>
            <a:ext cx="30175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8B97A9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233172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161B2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17520" y="233172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22D3EE"/>
                </a:solidFill>
                <a:latin typeface="Segoe UI"/>
              </a:rPr>
              <a:t>APPLY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7" y="2331720"/>
            <a:ext cx="30175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8B97A9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233172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161B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6360" y="233172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22C55E"/>
                </a:solidFill>
                <a:latin typeface="Segoe UI"/>
              </a:rPr>
              <a:t>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3448" y="2331720"/>
            <a:ext cx="30175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8B97A9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33172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161B2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233172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F59E0B"/>
                </a:solidFill>
                <a:latin typeface="Segoe UI"/>
              </a:rPr>
              <a:t>IMPROVE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331720"/>
            <a:ext cx="30175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8B97A9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40" y="233172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161B27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64040" y="2331720"/>
            <a:ext cx="1828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50" b="1" i="0">
                <a:solidFill>
                  <a:srgbClr val="A78BFA"/>
                </a:solidFill>
                <a:latin typeface="Segoe UI"/>
              </a:rPr>
              <a:t>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5204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8B97A9"/>
                </a:solidFill>
                <a:latin typeface="Segoe UI"/>
              </a:rPr>
              <a:t>SYSTEM WORKFLOW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931920"/>
            <a:ext cx="5029200" cy="603504"/>
          </a:xfrm>
          <a:prstGeom prst="roundRect">
            <a:avLst>
              <a:gd name="adj" fmla="val 6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33271" y="407822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3271" y="40690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3931920"/>
            <a:ext cx="42062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7D0DE"/>
                </a:solidFill>
                <a:latin typeface="Segoe UI"/>
              </a:rPr>
              <a:t>Teacher creates a subject and topics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931920"/>
            <a:ext cx="5029200" cy="603504"/>
          </a:xfrm>
          <a:prstGeom prst="roundRect">
            <a:avLst>
              <a:gd name="adj" fmla="val 6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91072" y="407822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91072" y="40690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3931920"/>
            <a:ext cx="42062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7D0DE"/>
                </a:solidFill>
                <a:latin typeface="Segoe UI"/>
              </a:rPr>
              <a:t>AI assists in generating level content (draft)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4645152"/>
            <a:ext cx="5029200" cy="603504"/>
          </a:xfrm>
          <a:prstGeom prst="roundRect">
            <a:avLst>
              <a:gd name="adj" fmla="val 6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33271" y="479145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3271" y="478231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4645152"/>
            <a:ext cx="42062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7D0DE"/>
                </a:solidFill>
                <a:latin typeface="Segoe UI"/>
              </a:rPr>
              <a:t>Teacher reviews &amp; approves the draft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4645152"/>
            <a:ext cx="5029200" cy="603504"/>
          </a:xfrm>
          <a:prstGeom prst="roundRect">
            <a:avLst>
              <a:gd name="adj" fmla="val 6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291072" y="479145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91072" y="478231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4645152"/>
            <a:ext cx="42062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7D0DE"/>
                </a:solidFill>
                <a:latin typeface="Segoe UI"/>
              </a:rPr>
              <a:t>Students play interactive coding games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5358383"/>
            <a:ext cx="5029200" cy="603504"/>
          </a:xfrm>
          <a:prstGeom prst="roundRect">
            <a:avLst>
              <a:gd name="adj" fmla="val 6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33271" y="550468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33271" y="549554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7048" y="5358383"/>
            <a:ext cx="42062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7D0DE"/>
                </a:solidFill>
                <a:latin typeface="Segoe UI"/>
              </a:rPr>
              <a:t>System evaluates solutions automatically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5358383"/>
            <a:ext cx="5029200" cy="603504"/>
          </a:xfrm>
          <a:prstGeom prst="roundRect">
            <a:avLst>
              <a:gd name="adj" fmla="val 6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291072" y="550468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91072" y="549554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84848" y="5358383"/>
            <a:ext cx="42062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7D0DE"/>
                </a:solidFill>
                <a:latin typeface="Segoe UI"/>
              </a:rPr>
              <a:t>XP, levels &amp; analytics update in real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System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A layered three-tier architecture with a standard {data, error} JSON contract on every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31720"/>
            <a:ext cx="3108960" cy="251460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331720"/>
            <a:ext cx="3108960" cy="91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255117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A78BFA"/>
                </a:solidFill>
                <a:latin typeface="Segoe UI"/>
              </a:rPr>
              <a:t>PRESENTATION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84378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4F6FB"/>
                </a:solidFill>
                <a:latin typeface="Segoe UI"/>
              </a:rPr>
              <a:t>Client — React SPA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355848"/>
            <a:ext cx="27249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A78BFA"/>
                </a:solidFill>
                <a:latin typeface="Segoe UI"/>
              </a:rPr>
              <a:t>•  </a:t>
            </a:r>
            <a:r>
              <a:rPr sz="1150">
                <a:solidFill>
                  <a:srgbClr val="C7D0DE"/>
                </a:solidFill>
                <a:latin typeface="Segoe UI"/>
              </a:rPr>
              <a:t>React 19 + TypeScript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A78BFA"/>
                </a:solidFill>
                <a:latin typeface="Segoe UI"/>
              </a:rPr>
              <a:t>•  </a:t>
            </a:r>
            <a:r>
              <a:rPr sz="1150">
                <a:solidFill>
                  <a:srgbClr val="C7D0DE"/>
                </a:solidFill>
                <a:latin typeface="Segoe UI"/>
              </a:rPr>
              <a:t>Vite · Tailwind CSS v4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A78BFA"/>
                </a:solidFill>
                <a:latin typeface="Segoe UI"/>
              </a:rPr>
              <a:t>•  </a:t>
            </a:r>
            <a:r>
              <a:rPr sz="1150">
                <a:solidFill>
                  <a:srgbClr val="C7D0DE"/>
                </a:solidFill>
                <a:latin typeface="Segoe UI"/>
              </a:rPr>
              <a:t>Zustand · React Query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A78BFA"/>
                </a:solidFill>
                <a:latin typeface="Segoe UI"/>
              </a:rPr>
              <a:t>•  </a:t>
            </a:r>
            <a:r>
              <a:rPr sz="1150">
                <a:solidFill>
                  <a:srgbClr val="C7D0DE"/>
                </a:solidFill>
                <a:latin typeface="Segoe UI"/>
              </a:rPr>
              <a:t>Monaco Editor · Framer Motion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331720"/>
            <a:ext cx="3108960" cy="251460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09160" y="2331720"/>
            <a:ext cx="310896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10328" y="255117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2D3EE"/>
                </a:solidFill>
                <a:latin typeface="Segoe UI"/>
              </a:rPr>
              <a:t>APPLICATION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284378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4F6FB"/>
                </a:solidFill>
                <a:latin typeface="Segoe UI"/>
              </a:rPr>
              <a:t>API — FastAPI (Python)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355848"/>
            <a:ext cx="27249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22D3EE"/>
                </a:solidFill>
                <a:latin typeface="Segoe UI"/>
              </a:rPr>
              <a:t>•  </a:t>
            </a:r>
            <a:r>
              <a:rPr sz="1150">
                <a:solidFill>
                  <a:srgbClr val="C7D0DE"/>
                </a:solidFill>
                <a:latin typeface="Segoe UI"/>
              </a:rPr>
              <a:t>JWT Auth + Role Guards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22D3EE"/>
                </a:solidFill>
                <a:latin typeface="Segoe UI"/>
              </a:rPr>
              <a:t>•  </a:t>
            </a:r>
            <a:r>
              <a:rPr sz="1150">
                <a:solidFill>
                  <a:srgbClr val="C7D0DE"/>
                </a:solidFill>
                <a:latin typeface="Segoe UI"/>
              </a:rPr>
              <a:t>Routes → Services → CRUD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22D3EE"/>
                </a:solidFill>
                <a:latin typeface="Segoe UI"/>
              </a:rPr>
              <a:t>•  </a:t>
            </a:r>
            <a:r>
              <a:rPr sz="1150">
                <a:solidFill>
                  <a:srgbClr val="C7D0DE"/>
                </a:solidFill>
                <a:latin typeface="Segoe UI"/>
              </a:rPr>
              <a:t>Code Execution Engine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22D3EE"/>
                </a:solidFill>
                <a:latin typeface="Segoe UI"/>
              </a:rPr>
              <a:t>•  </a:t>
            </a:r>
            <a:r>
              <a:rPr sz="1150">
                <a:solidFill>
                  <a:srgbClr val="C7D0DE"/>
                </a:solidFill>
                <a:latin typeface="Segoe UI"/>
              </a:rPr>
              <a:t>AI Generation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2331720"/>
            <a:ext cx="3108960" cy="251460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49640" y="2331720"/>
            <a:ext cx="3108960" cy="91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50808" y="255117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2C55E"/>
                </a:solidFill>
                <a:latin typeface="Segoe UI"/>
              </a:rPr>
              <a:t>DATA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284378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4F6FB"/>
                </a:solidFill>
                <a:latin typeface="Segoe UI"/>
              </a:rPr>
              <a:t>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3355848"/>
            <a:ext cx="27249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22C55E"/>
                </a:solidFill>
                <a:latin typeface="Segoe UI"/>
              </a:rPr>
              <a:t>•  </a:t>
            </a:r>
            <a:r>
              <a:rPr sz="1150">
                <a:solidFill>
                  <a:srgbClr val="C7D0DE"/>
                </a:solidFill>
                <a:latin typeface="Segoe UI"/>
              </a:rPr>
              <a:t>Users · Subjects · Quests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22C55E"/>
                </a:solidFill>
                <a:latin typeface="Segoe UI"/>
              </a:rPr>
              <a:t>•  </a:t>
            </a:r>
            <a:r>
              <a:rPr sz="1150">
                <a:solidFill>
                  <a:srgbClr val="C7D0DE"/>
                </a:solidFill>
                <a:latin typeface="Segoe UI"/>
              </a:rPr>
              <a:t>Tiles · Links · Challenges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22C55E"/>
                </a:solidFill>
                <a:latin typeface="Segoe UI"/>
              </a:rPr>
              <a:t>•  </a:t>
            </a:r>
            <a:r>
              <a:rPr sz="1150">
                <a:solidFill>
                  <a:srgbClr val="C7D0DE"/>
                </a:solidFill>
                <a:latin typeface="Segoe UI"/>
              </a:rPr>
              <a:t>Attempts · Achievements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1">
                <a:solidFill>
                  <a:srgbClr val="22C55E"/>
                </a:solidFill>
                <a:latin typeface="Segoe UI"/>
              </a:rPr>
              <a:t>•  </a:t>
            </a:r>
            <a:r>
              <a:rPr sz="1150">
                <a:solidFill>
                  <a:srgbClr val="C7D0DE"/>
                </a:solidFill>
                <a:latin typeface="Segoe UI"/>
              </a:rPr>
              <a:t>SQLAlchemy ORM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3154679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8B97A9"/>
                </a:solidFill>
                <a:latin typeface="Segoe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3154679"/>
            <a:ext cx="548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8B97A9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920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8B97A9"/>
                </a:solidFill>
                <a:latin typeface="Segoe UI"/>
              </a:rPr>
              <a:t>HTTPS · JSON  ↑↓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8920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8B97A9"/>
                </a:solidFill>
                <a:latin typeface="Segoe UI"/>
              </a:rPr>
              <a:t>SQL  ↑↓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525780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1C2231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10328" y="53949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59E0B"/>
                </a:solidFill>
                <a:latin typeface="Segoe UI"/>
              </a:rPr>
              <a:t>AI PROVIDER (external)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0328" y="56692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4F6FB"/>
                </a:solidFill>
                <a:latin typeface="Segoe UI"/>
              </a:rPr>
              <a:t>Groq — Llama 3.3 70B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0328" y="5943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OpenAI-compatible · swappable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63640" y="4846320"/>
            <a:ext cx="0" cy="411480"/>
          </a:xfrm>
          <a:prstGeom prst="line">
            <a:avLst/>
          </a:prstGeom>
          <a:ln w="15875">
            <a:solidFill>
              <a:srgbClr val="F59E0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Technology Stack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401568" cy="416052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3401568" cy="502920"/>
          </a:xfrm>
          <a:prstGeom prst="rect">
            <a:avLst/>
          </a:prstGeom>
          <a:solidFill>
            <a:srgbClr val="1C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1828800"/>
            <a:ext cx="303580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A78BFA"/>
                </a:solidFill>
                <a:latin typeface="Segoe U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487168"/>
            <a:ext cx="30358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React 19 + 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788920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Typed component UI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9848" y="3108960"/>
            <a:ext cx="2999232" cy="0"/>
          </a:xfrm>
          <a:prstGeom prst="line">
            <a:avLst/>
          </a:prstGeom>
          <a:ln w="952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69848" y="3172968"/>
            <a:ext cx="30358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Vite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474720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Build tool &amp; dev server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69848" y="3794760"/>
            <a:ext cx="2999232" cy="0"/>
          </a:xfrm>
          <a:prstGeom prst="line">
            <a:avLst/>
          </a:prstGeom>
          <a:ln w="952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69848" y="3858768"/>
            <a:ext cx="30358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Tailwind CSS v4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160520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Design-token styling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9848" y="4480560"/>
            <a:ext cx="2999232" cy="0"/>
          </a:xfrm>
          <a:prstGeom prst="line">
            <a:avLst/>
          </a:prstGeom>
          <a:ln w="952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69848" y="4544568"/>
            <a:ext cx="3035808" cy="195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 dirty="0">
                <a:solidFill>
                  <a:srgbClr val="F4F6FB"/>
                </a:solidFill>
                <a:latin typeface="Segoe UI"/>
              </a:rPr>
              <a:t>React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846320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State &amp; server-cache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9848" y="5166360"/>
            <a:ext cx="2999232" cy="0"/>
          </a:xfrm>
          <a:prstGeom prst="line">
            <a:avLst/>
          </a:prstGeom>
          <a:ln w="952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69848" y="5230368"/>
            <a:ext cx="30358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Monaco Editor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5532120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In-browser code editor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1688" y="1828800"/>
            <a:ext cx="3401568" cy="416052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61688" y="1828800"/>
            <a:ext cx="3401568" cy="502920"/>
          </a:xfrm>
          <a:prstGeom prst="rect">
            <a:avLst/>
          </a:prstGeom>
          <a:solidFill>
            <a:srgbClr val="1C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62856" y="1828800"/>
            <a:ext cx="303580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2D3EE"/>
                </a:solidFill>
                <a:latin typeface="Segoe UI"/>
              </a:rPr>
              <a:t>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2487168"/>
            <a:ext cx="30358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Python + FastAPI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2856" y="2788920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REST API + auto OpenAPI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62856" y="3108960"/>
            <a:ext cx="2999232" cy="0"/>
          </a:xfrm>
          <a:prstGeom prst="line">
            <a:avLst/>
          </a:prstGeom>
          <a:ln w="952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62856" y="3172968"/>
            <a:ext cx="30358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SQLAlchemy 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3474720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ORM data-access layer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62856" y="3794760"/>
            <a:ext cx="2999232" cy="0"/>
          </a:xfrm>
          <a:prstGeom prst="line">
            <a:avLst/>
          </a:prstGeom>
          <a:ln w="952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62856" y="3858768"/>
            <a:ext cx="30358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PyJWT + bcrypt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160520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Auth &amp; password hashing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62856" y="4480560"/>
            <a:ext cx="2999232" cy="0"/>
          </a:xfrm>
          <a:prstGeom prst="line">
            <a:avLst/>
          </a:prstGeom>
          <a:ln w="952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62856" y="4544568"/>
            <a:ext cx="30358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OpenAI SDK → Groq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4846320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LLM generation client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62856" y="5166360"/>
            <a:ext cx="2999232" cy="0"/>
          </a:xfrm>
          <a:prstGeom prst="line">
            <a:avLst/>
          </a:prstGeom>
          <a:ln w="952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62856" y="5230368"/>
            <a:ext cx="30358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pypdf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2856" y="5532120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PDF text extraction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54696" y="1828800"/>
            <a:ext cx="3401568" cy="416052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854696" y="1828800"/>
            <a:ext cx="3401568" cy="502920"/>
          </a:xfrm>
          <a:prstGeom prst="rect">
            <a:avLst/>
          </a:prstGeom>
          <a:solidFill>
            <a:srgbClr val="1C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55864" y="1828800"/>
            <a:ext cx="303580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DATA &amp; TOOLING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55864" y="2487168"/>
            <a:ext cx="30358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PostgreSQL 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55864" y="2788920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Relational database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055864" y="3108960"/>
            <a:ext cx="2999232" cy="0"/>
          </a:xfrm>
          <a:prstGeom prst="line">
            <a:avLst/>
          </a:prstGeom>
          <a:ln w="952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055864" y="3172968"/>
            <a:ext cx="30358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Pydantic v2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4" y="3474720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Schema validation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055864" y="3794760"/>
            <a:ext cx="2999232" cy="0"/>
          </a:xfrm>
          <a:prstGeom prst="line">
            <a:avLst/>
          </a:prstGeom>
          <a:ln w="952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055864" y="3858768"/>
            <a:ext cx="30358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Framer Motion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5864" y="4160520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Meaningful animation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055864" y="4480560"/>
            <a:ext cx="2999232" cy="0"/>
          </a:xfrm>
          <a:prstGeom prst="line">
            <a:avLst/>
          </a:prstGeom>
          <a:ln w="952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055864" y="4544568"/>
            <a:ext cx="30358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React Router v7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55864" y="4846320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Routing &amp; guards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055864" y="5166360"/>
            <a:ext cx="2999232" cy="0"/>
          </a:xfrm>
          <a:prstGeom prst="line">
            <a:avLst/>
          </a:prstGeom>
          <a:ln w="952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055864" y="5230368"/>
            <a:ext cx="30358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4F6FB"/>
                </a:solidFill>
                <a:latin typeface="Segoe UI"/>
              </a:rPr>
              <a:t>Vite proxy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55864" y="5532120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Same-origin API / no CORS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Database Design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One quests table serves every game type via a kind discriminator (SEQUENCE | CODING | ARENA).</a:t>
            </a:r>
            <a:r>
              <a:rPr sz="1350" b="1" i="0">
                <a:solidFill>
                  <a:srgbClr val="A78BFA"/>
                </a:solidFill>
                <a:latin typeface="Consolas"/>
              </a:rPr>
              <a:t/>
            </a:r>
            <a:r>
              <a:rPr sz="1350" b="0" i="0">
                <a:solidFill>
                  <a:srgbClr val="C7D0DE"/>
                </a:solidFill>
                <a:latin typeface="Segoe UI"/>
              </a:rPr>
              <a:t/>
            </a:r>
            <a:r>
              <a:rPr sz="1350" b="1" i="0">
                <a:solidFill>
                  <a:srgbClr val="A78BFA"/>
                </a:solidFill>
                <a:latin typeface="Consolas"/>
              </a:rPr>
              <a:t/>
            </a:r>
            <a:r>
              <a:rPr sz="1350" b="0" i="0">
                <a:solidFill>
                  <a:srgbClr val="C7D0DE"/>
                </a:solidFill>
                <a:latin typeface="Segoe U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48840"/>
            <a:ext cx="2377440" cy="1005840"/>
          </a:xfrm>
          <a:prstGeom prst="roundRect">
            <a:avLst>
              <a:gd name="adj" fmla="val 4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148840"/>
            <a:ext cx="2377440" cy="402336"/>
          </a:xfrm>
          <a:prstGeom prst="rect">
            <a:avLst/>
          </a:prstGeom>
          <a:solidFill>
            <a:srgbClr val="1C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39" y="2148840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2D3EE"/>
                </a:solidFill>
                <a:latin typeface="Consolas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39" y="26060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0DE"/>
                </a:solidFill>
                <a:latin typeface="Consolas"/>
              </a:rPr>
              <a:t>id, name,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39" y="28803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0DE"/>
                </a:solidFill>
                <a:latin typeface="Consolas"/>
              </a:rPr>
              <a:t>role, xp, level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977639"/>
            <a:ext cx="2377440" cy="1005840"/>
          </a:xfrm>
          <a:prstGeom prst="roundRect">
            <a:avLst>
              <a:gd name="adj" fmla="val 4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3977639"/>
            <a:ext cx="2377440" cy="402336"/>
          </a:xfrm>
          <a:prstGeom prst="rect">
            <a:avLst/>
          </a:prstGeom>
          <a:solidFill>
            <a:srgbClr val="1C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39" y="3977639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2D3EE"/>
                </a:solidFill>
                <a:latin typeface="Consolas"/>
              </a:rPr>
              <a:t>QuestAttempt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39" y="44348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0DE"/>
                </a:solidFill>
                <a:latin typeface="Consolas"/>
              </a:rPr>
              <a:t>user_id, quest_id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39" y="4709159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C7D0DE"/>
                </a:solidFill>
                <a:latin typeface="Consolas"/>
              </a:rPr>
              <a:t>status, </a:t>
            </a:r>
            <a:r>
              <a:rPr sz="1050" b="0" i="0" dirty="0" err="1">
                <a:solidFill>
                  <a:srgbClr val="C7D0DE"/>
                </a:solidFill>
                <a:latin typeface="Consolas"/>
              </a:rPr>
              <a:t>clean_build</a:t>
            </a:r>
            <a:endParaRPr sz="1050" b="0" i="0" dirty="0">
              <a:solidFill>
                <a:srgbClr val="C7D0DE"/>
              </a:solidFill>
              <a:latin typeface="Consola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0" y="2103120"/>
            <a:ext cx="2788920" cy="1005840"/>
          </a:xfrm>
          <a:prstGeom prst="roundRect">
            <a:avLst>
              <a:gd name="adj" fmla="val 4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0" y="2103120"/>
            <a:ext cx="2788920" cy="402336"/>
          </a:xfrm>
          <a:prstGeom prst="rect">
            <a:avLst/>
          </a:prstGeom>
          <a:solidFill>
            <a:srgbClr val="1C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2103120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A78BFA"/>
                </a:solidFill>
                <a:latin typeface="Consolas"/>
              </a:rPr>
              <a:t>Subject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56032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0DE"/>
                </a:solidFill>
                <a:latin typeface="Consolas"/>
              </a:rPr>
              <a:t>id, slug, title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834639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0DE"/>
                </a:solidFill>
                <a:latin typeface="Consolas"/>
              </a:rPr>
              <a:t>description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429000"/>
            <a:ext cx="2788920" cy="1005840"/>
          </a:xfrm>
          <a:prstGeom prst="roundRect">
            <a:avLst>
              <a:gd name="adj" fmla="val 4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3429000"/>
            <a:ext cx="2788920" cy="402336"/>
          </a:xfrm>
          <a:prstGeom prst="rect">
            <a:avLst/>
          </a:prstGeom>
          <a:solidFill>
            <a:srgbClr val="2A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9160" y="3429000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A78BFA"/>
                </a:solidFill>
                <a:latin typeface="Consolas"/>
              </a:rPr>
              <a:t>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88620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0DE"/>
                </a:solidFill>
                <a:latin typeface="Consolas"/>
              </a:rPr>
              <a:t>id, slug, title, kind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16052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0DE"/>
                </a:solidFill>
                <a:latin typeface="Consolas"/>
              </a:rPr>
              <a:t>difficulty, xp_reward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40" y="2148840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549640" y="2148840"/>
            <a:ext cx="2697480" cy="402336"/>
          </a:xfrm>
          <a:prstGeom prst="rect">
            <a:avLst/>
          </a:prstGeom>
          <a:solidFill>
            <a:srgbClr val="1C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0" y="2148840"/>
            <a:ext cx="24231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2C55E"/>
                </a:solidFill>
                <a:latin typeface="Consolas"/>
              </a:rPr>
              <a:t>CodingChallenge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60604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0DE"/>
                </a:solidFill>
                <a:latin typeface="Consolas"/>
              </a:rPr>
              <a:t>prompt, starter_code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88036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0DE"/>
                </a:solidFill>
                <a:latin typeface="Consolas"/>
              </a:rPr>
              <a:t>test_cases (JSONB)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49640" y="3383280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549640" y="3383280"/>
            <a:ext cx="2697480" cy="402336"/>
          </a:xfrm>
          <a:prstGeom prst="rect">
            <a:avLst/>
          </a:prstGeom>
          <a:solidFill>
            <a:srgbClr val="1C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0" y="3383280"/>
            <a:ext cx="24231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2C55E"/>
                </a:solidFill>
                <a:latin typeface="Consolas"/>
              </a:rPr>
              <a:t>QuestTile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84048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0DE"/>
                </a:solidFill>
                <a:latin typeface="Consolas"/>
              </a:rPr>
              <a:t>tile_key, label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11480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0DE"/>
                </a:solidFill>
                <a:latin typeface="Consolas"/>
              </a:rPr>
              <a:t>is_distractor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49640" y="4572000"/>
            <a:ext cx="2697480" cy="1005840"/>
          </a:xfrm>
          <a:prstGeom prst="roundRect">
            <a:avLst>
              <a:gd name="adj" fmla="val 4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549640" y="4572000"/>
            <a:ext cx="2697480" cy="402336"/>
          </a:xfrm>
          <a:prstGeom prst="rect">
            <a:avLst/>
          </a:prstGeom>
          <a:solidFill>
            <a:srgbClr val="1C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800" y="4572000"/>
            <a:ext cx="24231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2C55E"/>
                </a:solidFill>
                <a:latin typeface="Consolas"/>
              </a:rPr>
              <a:t>QuestLink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02920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0DE"/>
                </a:solidFill>
                <a:latin typeface="Consolas"/>
              </a:rPr>
              <a:t>from_key, to_key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530352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0DE"/>
                </a:solidFill>
                <a:latin typeface="Consolas"/>
              </a:rPr>
              <a:t>explanation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5486400"/>
            <a:ext cx="2377440" cy="731520"/>
          </a:xfrm>
          <a:prstGeom prst="roundRect">
            <a:avLst>
              <a:gd name="adj" fmla="val 4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68680" y="5486400"/>
            <a:ext cx="2377440" cy="402336"/>
          </a:xfrm>
          <a:prstGeom prst="rect">
            <a:avLst/>
          </a:prstGeom>
          <a:solidFill>
            <a:srgbClr val="1C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5839" y="5486400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59E0B"/>
                </a:solidFill>
                <a:latin typeface="Consolas"/>
              </a:rPr>
              <a:t>Achievement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39" y="59436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0DE"/>
                </a:solidFill>
                <a:latin typeface="Consolas"/>
              </a:rPr>
              <a:t>key, title, icon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29000" y="5532120"/>
            <a:ext cx="2651760" cy="731520"/>
          </a:xfrm>
          <a:prstGeom prst="roundRect">
            <a:avLst>
              <a:gd name="adj" fmla="val 4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429000" y="5532120"/>
            <a:ext cx="2651760" cy="402336"/>
          </a:xfrm>
          <a:prstGeom prst="rect">
            <a:avLst/>
          </a:prstGeom>
          <a:solidFill>
            <a:srgbClr val="1C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566160" y="5532120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 dirty="0" err="1">
                <a:solidFill>
                  <a:srgbClr val="F59E0B"/>
                </a:solidFill>
                <a:latin typeface="Consolas"/>
              </a:rPr>
              <a:t>UserAchievement</a:t>
            </a:r>
            <a:endParaRPr sz="1250" b="1" i="0" dirty="0">
              <a:solidFill>
                <a:srgbClr val="F59E0B"/>
              </a:solidFill>
              <a:latin typeface="Consola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566160" y="59893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0DE"/>
                </a:solidFill>
                <a:latin typeface="Consolas"/>
              </a:rPr>
              <a:t>user_id, achv_id, at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966460" y="3108960"/>
            <a:ext cx="0" cy="320040"/>
          </a:xfrm>
          <a:prstGeom prst="line">
            <a:avLst/>
          </a:prstGeom>
          <a:ln w="1587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737860" y="31226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8B97A9"/>
                </a:solidFill>
                <a:latin typeface="Consolas"/>
              </a:rPr>
              <a:t>1:N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7360920" y="2651760"/>
            <a:ext cx="1188720" cy="1280160"/>
          </a:xfrm>
          <a:prstGeom prst="line">
            <a:avLst/>
          </a:prstGeom>
          <a:ln w="1587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726679" y="314553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8B97A9"/>
                </a:solidFill>
                <a:latin typeface="Consolas"/>
              </a:rPr>
              <a:t>1:1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7360920" y="3886200"/>
            <a:ext cx="1188720" cy="45720"/>
          </a:xfrm>
          <a:prstGeom prst="line">
            <a:avLst/>
          </a:prstGeom>
          <a:ln w="1587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726679" y="376275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8B97A9"/>
                </a:solidFill>
                <a:latin typeface="Consolas"/>
              </a:rPr>
              <a:t>1:N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360920" y="3931920"/>
            <a:ext cx="1188720" cy="1143000"/>
          </a:xfrm>
          <a:prstGeom prst="line">
            <a:avLst/>
          </a:prstGeom>
          <a:ln w="1587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726679" y="43571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8B97A9"/>
                </a:solidFill>
                <a:latin typeface="Consolas"/>
              </a:rPr>
              <a:t>1:N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057400" y="3154680"/>
            <a:ext cx="0" cy="822959"/>
          </a:xfrm>
          <a:prstGeom prst="line">
            <a:avLst/>
          </a:prstGeom>
          <a:ln w="1587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828800" y="341985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8B97A9"/>
                </a:solidFill>
                <a:latin typeface="Consolas"/>
              </a:rPr>
              <a:t>1:N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3246120" y="3931920"/>
            <a:ext cx="1325880" cy="548639"/>
          </a:xfrm>
          <a:prstGeom prst="line">
            <a:avLst/>
          </a:prstGeom>
          <a:ln w="1587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680460" y="4059935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8B97A9"/>
                </a:solidFill>
                <a:latin typeface="Consolas"/>
              </a:rPr>
              <a:t>N:1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057400" y="3154680"/>
            <a:ext cx="0" cy="2331720"/>
          </a:xfrm>
          <a:prstGeom prst="line">
            <a:avLst/>
          </a:prstGeom>
          <a:ln w="1587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828800" y="4174235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endParaRPr/>
          </a:p>
        </p:txBody>
      </p:sp>
      <p:cxnSp>
        <p:nvCxnSpPr>
          <p:cNvPr id="66" name="Connector 65"/>
          <p:cNvCxnSpPr/>
          <p:nvPr/>
        </p:nvCxnSpPr>
        <p:spPr>
          <a:xfrm>
            <a:off x="3246120" y="5852160"/>
            <a:ext cx="182880" cy="45720"/>
          </a:xfrm>
          <a:prstGeom prst="line">
            <a:avLst/>
          </a:prstGeom>
          <a:ln w="1587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108960" y="57287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8B97A9"/>
                </a:solidFill>
                <a:latin typeface="Consolas"/>
              </a:rPr>
              <a:t>N:M</a:t>
            </a:r>
          </a:p>
        </p:txBody>
      </p:sp>
      <p:sp>
        <p:nvSpPr>
          <p:cNvPr id="68" name="Rounded Rectangle 68"/>
          <p:cNvSpPr/>
          <p:nvPr/>
        </p:nvSpPr>
        <p:spPr>
          <a:xfrm>
            <a:off x="8549640" y="5623560"/>
            <a:ext cx="2697480" cy="731520"/>
          </a:xfrm>
          <a:prstGeom prst="roundRect">
            <a:avLst>
              <a:gd name="adj" fmla="val 4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9"/>
          <p:cNvSpPr/>
          <p:nvPr/>
        </p:nvSpPr>
        <p:spPr>
          <a:xfrm>
            <a:off x="8549640" y="5623560"/>
            <a:ext cx="2697480" cy="402336"/>
          </a:xfrm>
          <a:prstGeom prst="rect">
            <a:avLst/>
          </a:prstGeom>
          <a:solidFill>
            <a:srgbClr val="1C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70"/>
          <p:cNvSpPr txBox="1"/>
          <p:nvPr/>
        </p:nvSpPr>
        <p:spPr>
          <a:xfrm>
            <a:off x="8686800" y="5623560"/>
            <a:ext cx="2103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59E0B"/>
                </a:solidFill>
                <a:latin typeface="Consolas"/>
              </a:rPr>
              <a:t>ArenaRound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8686800" y="60807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C7D0DE"/>
                </a:solidFill>
                <a:latin typeface="Consolas"/>
              </a:rPr>
              <a:t>prompt, options, idx</a:t>
            </a:r>
          </a:p>
        </p:txBody>
      </p:sp>
      <p:cxnSp>
        <p:nvCxnSpPr>
          <p:cNvPr id="72" name="Connector 72"/>
          <p:cNvCxnSpPr/>
          <p:nvPr/>
        </p:nvCxnSpPr>
        <p:spPr>
          <a:xfrm>
            <a:off x="7360920" y="3931920"/>
            <a:ext cx="1188720" cy="2057400"/>
          </a:xfrm>
          <a:prstGeom prst="line">
            <a:avLst/>
          </a:prstGeom>
          <a:ln w="15875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3"/>
          <p:cNvSpPr txBox="1"/>
          <p:nvPr/>
        </p:nvSpPr>
        <p:spPr>
          <a:xfrm>
            <a:off x="7818120" y="5349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8B97A9"/>
                </a:solidFill>
                <a:latin typeface="Consolas"/>
              </a:rPr>
              <a:t>1:N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What Was Built — Modules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74519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1874519"/>
            <a:ext cx="91440" cy="10058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029967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4F6FB"/>
                </a:solidFill>
                <a:latin typeface="Segoe UI"/>
              </a:rPr>
              <a:t>Authentication &amp;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86584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7D0DE"/>
                </a:solidFill>
                <a:latin typeface="Segoe UI"/>
              </a:rPr>
              <a:t>JWT login/register; STUDENT &amp; TEACHER guards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91440" cy="10058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029967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4F6FB"/>
                </a:solidFill>
                <a:latin typeface="Segoe UI"/>
              </a:rPr>
              <a:t>Skill Tree &amp; Progression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86584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7D0DE"/>
                </a:solidFill>
                <a:latin typeface="Segoe UI"/>
              </a:rPr>
              <a:t>Unlockable node map; XP, levels, achievements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01752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3017520"/>
            <a:ext cx="91440" cy="10058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31729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4F6FB"/>
                </a:solidFill>
                <a:latin typeface="Segoe UI"/>
              </a:rPr>
              <a:t>Sequence 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29584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7D0DE"/>
                </a:solidFill>
                <a:latin typeface="Segoe UI"/>
              </a:rPr>
              <a:t>Drag/tap pipeline game with per-link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01752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0" y="3017520"/>
            <a:ext cx="91440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1729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4F6FB"/>
                </a:solidFill>
                <a:latin typeface="Segoe UI"/>
              </a:rPr>
              <a:t>Code Forge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29584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7D0DE"/>
                </a:solidFill>
                <a:latin typeface="Segoe UI"/>
              </a:rPr>
              <a:t>Monaco editor + server-side Python runner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16052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26480" y="4160520"/>
            <a:ext cx="91440" cy="10058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43159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4F6FB"/>
                </a:solidFill>
                <a:latin typeface="Segoe UI"/>
              </a:rPr>
              <a:t>AI Content 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672583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7D0DE"/>
                </a:solidFill>
                <a:latin typeface="Segoe UI"/>
              </a:rPr>
              <a:t>PDF/text → quest drafts via Groq LLM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30352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8680" y="5303520"/>
            <a:ext cx="91440" cy="10058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" y="54589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4F6FB"/>
                </a:solidFill>
                <a:latin typeface="Segoe UI"/>
              </a:rPr>
              <a:t>Teacher Suite &amp;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815583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7D0DE"/>
                </a:solidFill>
                <a:latin typeface="Segoe UI"/>
              </a:rPr>
              <a:t>Content CRUD, approval queue, student roster</a:t>
            </a:r>
          </a:p>
        </p:txBody>
      </p:sp>
      <p:sp>
        <p:nvSpPr>
          <p:cNvPr id="34" name="Rounded Rectangle 34"/>
          <p:cNvSpPr/>
          <p:nvPr/>
        </p:nvSpPr>
        <p:spPr>
          <a:xfrm>
            <a:off x="868680" y="416052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5"/>
          <p:cNvSpPr/>
          <p:nvPr/>
        </p:nvSpPr>
        <p:spPr>
          <a:xfrm>
            <a:off x="868680" y="4160520"/>
            <a:ext cx="91440" cy="10058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1143000" y="43159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4F6FB"/>
                </a:solidFill>
                <a:latin typeface="Segoe UI"/>
              </a:rPr>
              <a:t>Rapid Arena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3000" y="4672583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7D0DE"/>
                </a:solidFill>
                <a:latin typeface="Segoe UI"/>
              </a:rPr>
              <a:t>Timed MCQ rounds — hearts, streak, server re-graded</a:t>
            </a:r>
          </a:p>
        </p:txBody>
      </p:sp>
      <p:sp>
        <p:nvSpPr>
          <p:cNvPr id="38" name="Rounded Rectangle 38"/>
          <p:cNvSpPr/>
          <p:nvPr/>
        </p:nvSpPr>
        <p:spPr>
          <a:xfrm>
            <a:off x="6126480" y="530352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9"/>
          <p:cNvSpPr/>
          <p:nvPr/>
        </p:nvSpPr>
        <p:spPr>
          <a:xfrm>
            <a:off x="6126480" y="5303520"/>
            <a:ext cx="91440" cy="10058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6400800" y="54589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4F6FB"/>
                </a:solidFill>
                <a:latin typeface="Segoe UI"/>
              </a:rPr>
              <a:t>Leaderboard &amp; Profile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00800" y="5815583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7D0DE"/>
                </a:solidFill>
                <a:latin typeface="Segoe UI"/>
              </a:rPr>
              <a:t>Ranked-by-XP table; achievements grid &amp; stats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IMPLEMENTATION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Gamification &amp; Student Dashboard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1605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A78BFA"/>
                </a:solidFill>
                <a:latin typeface="Segoe UI"/>
              </a:rPr>
              <a:t>▸  </a:t>
            </a:r>
            <a:r>
              <a:rPr sz="1400" b="1">
                <a:solidFill>
                  <a:srgbClr val="C7D0DE"/>
                </a:solidFill>
                <a:latin typeface="Segoe UI"/>
              </a:rPr>
              <a:t>XP is additive </a:t>
            </a:r>
            <a:r>
              <a:rPr sz="1400">
                <a:solidFill>
                  <a:srgbClr val="C7D0DE"/>
                </a:solidFill>
                <a:latin typeface="Segoe UI"/>
              </a:rPr>
              <a:t>and awarded server-side only on first completion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A78BFA"/>
                </a:solidFill>
                <a:latin typeface="Segoe UI"/>
              </a:rPr>
              <a:t>▸  </a:t>
            </a:r>
            <a:r>
              <a:rPr sz="1400" b="1">
                <a:solidFill>
                  <a:srgbClr val="C7D0DE"/>
                </a:solidFill>
                <a:latin typeface="Segoe UI"/>
              </a:rPr>
              <a:t>Levels </a:t>
            </a:r>
            <a:r>
              <a:rPr sz="1400">
                <a:solidFill>
                  <a:srgbClr val="C7D0DE"/>
                </a:solidFill>
                <a:latin typeface="Segoe UI"/>
              </a:rPr>
              <a:t>derived from a fixed XP-threshold table (1–10)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A78BFA"/>
                </a:solidFill>
                <a:latin typeface="Segoe UI"/>
              </a:rPr>
              <a:t>▸  </a:t>
            </a:r>
            <a:r>
              <a:rPr sz="1400" b="1">
                <a:solidFill>
                  <a:srgbClr val="C7D0DE"/>
                </a:solidFill>
                <a:latin typeface="Segoe UI"/>
              </a:rPr>
              <a:t>Achievements </a:t>
            </a:r>
            <a:r>
              <a:rPr sz="1400">
                <a:solidFill>
                  <a:srgbClr val="C7D0DE"/>
                </a:solidFill>
                <a:latin typeface="Segoe UI"/>
              </a:rPr>
              <a:t>unlocked server-side (First Steps, Clean Build…)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A78BFA"/>
                </a:solidFill>
                <a:latin typeface="Segoe UI"/>
              </a:rPr>
              <a:t>▸  </a:t>
            </a:r>
            <a:r>
              <a:rPr sz="1400" b="1">
                <a:solidFill>
                  <a:srgbClr val="C7D0DE"/>
                </a:solidFill>
                <a:latin typeface="Segoe UI"/>
              </a:rPr>
              <a:t>Clean-build bonus </a:t>
            </a:r>
            <a:r>
              <a:rPr sz="1400">
                <a:solidFill>
                  <a:srgbClr val="C7D0DE"/>
                </a:solidFill>
                <a:latin typeface="Segoe UI"/>
              </a:rPr>
              <a:t>for solving with zero failed validations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00" b="1">
                <a:solidFill>
                  <a:srgbClr val="A78BFA"/>
                </a:solidFill>
                <a:latin typeface="Segoe UI"/>
              </a:rPr>
              <a:t>▸  </a:t>
            </a:r>
            <a:r>
              <a:rPr sz="1400" b="1">
                <a:solidFill>
                  <a:srgbClr val="C7D0DE"/>
                </a:solidFill>
                <a:latin typeface="Segoe UI"/>
              </a:rPr>
              <a:t>Server-authoritative </a:t>
            </a:r>
            <a:r>
              <a:rPr sz="1400">
                <a:solidFill>
                  <a:srgbClr val="C7D0DE"/>
                </a:solidFill>
                <a:latin typeface="Segoe UI"/>
              </a:rPr>
              <a:t>— the client can never spoof XP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486400"/>
            <a:ext cx="4160520" cy="822960"/>
          </a:xfrm>
          <a:prstGeom prst="roundRect">
            <a:avLst>
              <a:gd name="adj" fmla="val 6000"/>
            </a:avLst>
          </a:prstGeom>
          <a:solidFill>
            <a:srgbClr val="161B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3749039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2C55E"/>
                </a:solidFill>
                <a:latin typeface="Segoe UI"/>
              </a:rPr>
              <a:t>Verified: </a:t>
            </a:r>
            <a:r>
              <a:rPr sz="1200" b="0" i="0">
                <a:solidFill>
                  <a:srgbClr val="C7D0DE"/>
                </a:solidFill>
                <a:latin typeface="Segoe UI"/>
              </a:rPr>
              <a:t>XP persisted 2450 → 2655 (+175 reward, +30 clean bonus).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0368" y="2700289"/>
            <a:ext cx="6044183" cy="2737580"/>
          </a:xfrm>
          <a:prstGeom prst="rect">
            <a:avLst/>
          </a:prstGeom>
          <a:solidFill>
            <a:srgbClr val="000000"/>
          </a:solidFill>
          <a:ln w="1587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727721"/>
            <a:ext cx="5989320" cy="26827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57800" y="5465302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Student dashboard — live XP bar, level badge and progress stats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IMPLEMENTATION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Skill Tree &amp; Sequence Builder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2445734"/>
            <a:ext cx="4992624" cy="2926651"/>
          </a:xfrm>
          <a:prstGeom prst="rect">
            <a:avLst/>
          </a:prstGeom>
          <a:solidFill>
            <a:srgbClr val="000000"/>
          </a:solidFill>
          <a:ln w="1587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3_skill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73166"/>
            <a:ext cx="4937760" cy="28717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399817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DBMS Skill Tree — completed / available / locked nodes + boss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24728" y="2166699"/>
            <a:ext cx="5678424" cy="2433161"/>
          </a:xfrm>
          <a:prstGeom prst="rect">
            <a:avLst/>
          </a:prstGeom>
          <a:solidFill>
            <a:srgbClr val="000000"/>
          </a:solidFill>
          <a:ln w="1587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6_builder_fi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194131"/>
            <a:ext cx="5623560" cy="23782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52160" y="4627292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Sequence Builder — pipeline built; 'Denormalized' is a distractor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5257800"/>
            <a:ext cx="5577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A78BFA"/>
                </a:solidFill>
                <a:latin typeface="Segoe UI"/>
              </a:rPr>
              <a:t>Marquee mechanic:  </a:t>
            </a:r>
            <a:r>
              <a:rPr sz="1300" b="0" i="0">
                <a:solidFill>
                  <a:srgbClr val="C7D0DE"/>
                </a:solidFill>
                <a:latin typeface="Segoe UI"/>
              </a:rPr>
              <a:t>students build an ordered pipeline from shuffled concept tiles.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C7D0DE"/>
                </a:solidFill>
                <a:latin typeface="Segoe UI"/>
              </a:rPr>
              <a:t>Validation is </a:t>
            </a:r>
            <a:r>
              <a:rPr sz="1300" b="1" i="0">
                <a:solidFill>
                  <a:srgbClr val="22C55E"/>
                </a:solidFill>
                <a:latin typeface="Segoe UI"/>
              </a:rPr>
              <a:t>per-link</a:t>
            </a:r>
            <a:r>
              <a:rPr sz="1300" b="0" i="0">
                <a:solidFill>
                  <a:srgbClr val="C7D0DE"/>
                </a:solidFill>
                <a:latin typeface="Segoe UI"/>
              </a:rPr>
              <a:t> (each connection checked), with plausible </a:t>
            </a:r>
            <a:r>
              <a:rPr sz="1300" b="1" i="0">
                <a:solidFill>
                  <a:srgbClr val="F59E0B"/>
                </a:solidFill>
                <a:latin typeface="Segoe UI"/>
              </a:rPr>
              <a:t>distractor</a:t>
            </a:r>
            <a:r>
              <a:rPr sz="1300" b="0" i="0">
                <a:solidFill>
                  <a:srgbClr val="C7D0DE"/>
                </a:solidFill>
                <a:latin typeface="Segoe UI"/>
              </a:rPr>
              <a:t> tiles.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IMPLEMENTATION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Code Forge — Execution Engine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7091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A78BFA"/>
                </a:solidFill>
                <a:latin typeface="Segoe UI"/>
              </a:rPr>
              <a:t>▸  </a:t>
            </a:r>
            <a:r>
              <a:rPr sz="1350" b="1">
                <a:solidFill>
                  <a:srgbClr val="C7D0DE"/>
                </a:solidFill>
                <a:latin typeface="Segoe UI"/>
              </a:rPr>
              <a:t>Monaco editor </a:t>
            </a:r>
            <a:r>
              <a:rPr sz="1350">
                <a:solidFill>
                  <a:srgbClr val="C7D0DE"/>
                </a:solidFill>
                <a:latin typeface="Segoe UI"/>
              </a:rPr>
              <a:t>(the VS Code engine) embedded in-browser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A78BFA"/>
                </a:solidFill>
                <a:latin typeface="Segoe UI"/>
              </a:rPr>
              <a:t>▸  </a:t>
            </a:r>
            <a:r>
              <a:rPr sz="1350" b="1">
                <a:solidFill>
                  <a:srgbClr val="C7D0DE"/>
                </a:solidFill>
                <a:latin typeface="Segoe UI"/>
              </a:rPr>
              <a:t>Run button </a:t>
            </a:r>
            <a:r>
              <a:rPr sz="1350">
                <a:solidFill>
                  <a:srgbClr val="C7D0DE"/>
                </a:solidFill>
                <a:latin typeface="Segoe UI"/>
              </a:rPr>
              <a:t>executes code against stored test cases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A78BFA"/>
                </a:solidFill>
                <a:latin typeface="Segoe UI"/>
              </a:rPr>
              <a:t>▸  </a:t>
            </a:r>
            <a:r>
              <a:rPr sz="1350" b="1">
                <a:solidFill>
                  <a:srgbClr val="C7D0DE"/>
                </a:solidFill>
                <a:latin typeface="Segoe UI"/>
              </a:rPr>
              <a:t>Isolated subprocess </a:t>
            </a:r>
            <a:r>
              <a:rPr sz="1350">
                <a:solidFill>
                  <a:srgbClr val="C7D0DE"/>
                </a:solidFill>
                <a:latin typeface="Segoe UI"/>
              </a:rPr>
              <a:t>(python -I) with a 5-second timeout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A78BFA"/>
                </a:solidFill>
                <a:latin typeface="Segoe UI"/>
              </a:rPr>
              <a:t>▸  </a:t>
            </a:r>
            <a:r>
              <a:rPr sz="1350" b="1">
                <a:solidFill>
                  <a:srgbClr val="C7D0DE"/>
                </a:solidFill>
                <a:latin typeface="Segoe UI"/>
              </a:rPr>
              <a:t>Supports varied </a:t>
            </a:r>
            <a:r>
              <a:rPr sz="1350">
                <a:solidFill>
                  <a:srgbClr val="C7D0DE"/>
                </a:solidFill>
                <a:latin typeface="Segoe UI"/>
              </a:rPr>
              <a:t>valid solutions — output-based checking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A78BFA"/>
                </a:solidFill>
                <a:latin typeface="Segoe UI"/>
              </a:rPr>
              <a:t>▸  </a:t>
            </a:r>
            <a:r>
              <a:rPr sz="1350" b="1">
                <a:solidFill>
                  <a:srgbClr val="C7D0DE"/>
                </a:solidFill>
                <a:latin typeface="Segoe UI"/>
              </a:rPr>
              <a:t>XP awarded </a:t>
            </a:r>
            <a:r>
              <a:rPr sz="1350">
                <a:solidFill>
                  <a:srgbClr val="C7D0DE"/>
                </a:solidFill>
                <a:latin typeface="Segoe UI"/>
              </a:rPr>
              <a:t>only when every hidden test passes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709160"/>
            <a:ext cx="4709160" cy="1600200"/>
          </a:xfrm>
          <a:prstGeom prst="roundRect">
            <a:avLst>
              <a:gd name="adj" fmla="val 3000"/>
            </a:avLst>
          </a:prstGeom>
          <a:solidFill>
            <a:srgbClr val="0F141E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4818888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A78BFA"/>
                </a:solidFill>
                <a:latin typeface="Consolas"/>
              </a:rPr>
              <a:t>services/code_runner.py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111496"/>
            <a:ext cx="4306824" cy="1051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C7D0DE"/>
                </a:solidFill>
                <a:latin typeface="Consolas"/>
              </a:rPr>
              <a:t>proc = subprocess.run(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7D0DE"/>
                </a:solidFill>
                <a:latin typeface="Consolas"/>
              </a:rPr>
              <a:t>    [sys.executable, </a:t>
            </a:r>
            <a:r>
              <a:rPr sz="1050">
                <a:solidFill>
                  <a:srgbClr val="22C55E"/>
                </a:solidFill>
                <a:latin typeface="Consolas"/>
              </a:rPr>
              <a:t>"-I"</a:t>
            </a:r>
            <a:r>
              <a:rPr sz="1050">
                <a:solidFill>
                  <a:srgbClr val="C7D0DE"/>
                </a:solidFill>
                <a:latin typeface="Consolas"/>
              </a:rPr>
              <a:t>, </a:t>
            </a:r>
            <a:r>
              <a:rPr sz="1050">
                <a:solidFill>
                  <a:srgbClr val="22C55E"/>
                </a:solidFill>
                <a:latin typeface="Consolas"/>
              </a:rPr>
              <a:t>"-c"</a:t>
            </a:r>
            <a:r>
              <a:rPr sz="1050">
                <a:solidFill>
                  <a:srgbClr val="C7D0DE"/>
                </a:solidFill>
                <a:latin typeface="Consolas"/>
              </a:rPr>
              <a:t>, HARNESS],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7D0DE"/>
                </a:solidFill>
                <a:latin typeface="Consolas"/>
              </a:rPr>
              <a:t>    input=payload, capture_output=</a:t>
            </a:r>
            <a:r>
              <a:rPr sz="1050">
                <a:solidFill>
                  <a:srgbClr val="22D3EE"/>
                </a:solidFill>
                <a:latin typeface="Consolas"/>
              </a:rPr>
              <a:t>True</a:t>
            </a:r>
            <a:r>
              <a:rPr sz="1050">
                <a:solidFill>
                  <a:srgbClr val="C7D0DE"/>
                </a:solidFill>
                <a:latin typeface="Consolas"/>
              </a:rPr>
              <a:t>,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7D0DE"/>
                </a:solidFill>
                <a:latin typeface="Consolas"/>
              </a:rPr>
              <a:t>    timeout=</a:t>
            </a:r>
            <a:r>
              <a:rPr sz="1050">
                <a:solidFill>
                  <a:srgbClr val="F59E0B"/>
                </a:solidFill>
                <a:latin typeface="Consolas"/>
              </a:rPr>
              <a:t>5</a:t>
            </a:r>
            <a:r>
              <a:rPr sz="1050">
                <a:solidFill>
                  <a:srgbClr val="C7D0DE"/>
                </a:solidFill>
                <a:latin typeface="Consolas"/>
              </a:rPr>
              <a:t>)  </a:t>
            </a:r>
            <a:r>
              <a:rPr sz="1050">
                <a:solidFill>
                  <a:srgbClr val="8B97A9"/>
                </a:solidFill>
                <a:latin typeface="Consolas"/>
              </a:rPr>
              <a:t># sandboxed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79007" y="1904936"/>
            <a:ext cx="5724144" cy="2728087"/>
          </a:xfrm>
          <a:prstGeom prst="rect">
            <a:avLst/>
          </a:prstGeom>
          <a:solidFill>
            <a:srgbClr val="000000"/>
          </a:solidFill>
          <a:ln w="1587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5_builder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932368"/>
            <a:ext cx="5669280" cy="26732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06440" y="4660455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In-mission play surface (coding challenges share the same shell)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4892040"/>
            <a:ext cx="5669280" cy="1417320"/>
          </a:xfrm>
          <a:prstGeom prst="roundRect">
            <a:avLst>
              <a:gd name="adj" fmla="val 3000"/>
            </a:avLst>
          </a:prstGeom>
          <a:solidFill>
            <a:srgbClr val="0F141E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07607" y="500176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A78BFA"/>
                </a:solidFill>
                <a:latin typeface="Consolas"/>
              </a:rPr>
              <a:t>Verified — server-graded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7" y="5294376"/>
            <a:ext cx="5266944" cy="868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C7D0DE"/>
                </a:solidFill>
                <a:latin typeface="Consolas"/>
              </a:rPr>
              <a:t>correct  solution  → </a:t>
            </a:r>
            <a:r>
              <a:rPr sz="1050">
                <a:solidFill>
                  <a:srgbClr val="22C55E"/>
                </a:solidFill>
                <a:latin typeface="Consolas"/>
              </a:rPr>
              <a:t>allPassed: true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7D0DE"/>
                </a:solidFill>
                <a:latin typeface="Consolas"/>
              </a:rPr>
              <a:t>wrong    solution  → </a:t>
            </a:r>
            <a:r>
              <a:rPr sz="1050">
                <a:solidFill>
                  <a:srgbClr val="EF4444"/>
                </a:solidFill>
                <a:latin typeface="Consolas"/>
              </a:rPr>
              <a:t>allPassed: false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8B97A9"/>
                </a:solidFill>
                <a:latin typeface="Consolas"/>
              </a:rPr>
              <a:t># reference solution computes expected 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IMPLEMENTATION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Rapid Arena — Recall Under Pressure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" y="2445734"/>
            <a:ext cx="4992624" cy="2926651"/>
          </a:xfrm>
          <a:prstGeom prst="rect">
            <a:avLst/>
          </a:prstGeom>
          <a:solidFill>
            <a:srgbClr val="000000"/>
          </a:solidFill>
          <a:ln w="1587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3_skill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73166"/>
            <a:ext cx="4937760" cy="28717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399817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Live round — timed MCQ with hearts, streak and countdown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24728" y="2166699"/>
            <a:ext cx="5678424" cy="2433161"/>
          </a:xfrm>
          <a:prstGeom prst="rect">
            <a:avLst/>
          </a:prstGeom>
          <a:solidFill>
            <a:srgbClr val="000000"/>
          </a:solidFill>
          <a:ln w="1587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6_builder_fi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194131"/>
            <a:ext cx="5623560" cy="23782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52160" y="4627292"/>
            <a:ext cx="5623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Round complete — score, streak and hearts before XP is claimed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5257800"/>
            <a:ext cx="5577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 i="0">
                <a:solidFill>
                  <a:srgbClr val="A78BFA"/>
                </a:solidFill>
                <a:latin typeface="Segoe UI"/>
              </a:rPr>
              <a:t>Recall, not reasoning:  </a:t>
            </a:r>
            <a:r>
              <a:rPr sz="1300" b="0" i="0">
                <a:solidFill>
                  <a:srgbClr val="C7D0DE"/>
                </a:solidFill>
                <a:latin typeface="Segoe UI"/>
              </a:rPr>
              <a:t>Arena is the third, complementary mode alongside Sequence Builder (procedural) and Code Forge (practical) — it tests recall speed, not structural understanding. Same anti-spoof pattern: every answer is graded server-side, one round at a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IMPLEMENTATION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AI Generation &amp; Teacher Approval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4854" y="1801368"/>
            <a:ext cx="4288251" cy="3118104"/>
          </a:xfrm>
          <a:prstGeom prst="rect">
            <a:avLst/>
          </a:prstGeom>
          <a:solidFill>
            <a:srgbClr val="000000"/>
          </a:solidFill>
          <a:ln w="1587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12_teacher_gene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286" y="1828800"/>
            <a:ext cx="4233387" cy="3063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52286" y="4946903"/>
            <a:ext cx="42333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Upload PDF / paste notes → choose quest type → Generate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5387" y="1801368"/>
            <a:ext cx="4468545" cy="3118104"/>
          </a:xfrm>
          <a:prstGeom prst="rect">
            <a:avLst/>
          </a:prstGeom>
          <a:solidFill>
            <a:srgbClr val="000000"/>
          </a:solidFill>
          <a:ln w="1587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13_teacher_appro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819" y="1828800"/>
            <a:ext cx="4413681" cy="3063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02819" y="4946903"/>
            <a:ext cx="441368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Approval queue — AI drafts stay hidden until approved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744200" cy="114300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25780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A78BFA"/>
                </a:solidFill>
                <a:latin typeface="Segoe UI"/>
              </a:rPr>
              <a:t>HUMAN-IN-THE-LOOP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57784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7D0DE"/>
                </a:solidFill>
                <a:latin typeface="Segoe UI"/>
              </a:rPr>
              <a:t>The LLM produces the same rows a hand-authored quest would, saved as a </a:t>
            </a:r>
            <a:r>
              <a:rPr sz="1300" b="1" i="0">
                <a:solidFill>
                  <a:srgbClr val="F59E0B"/>
                </a:solidFill>
                <a:latin typeface="Consolas"/>
              </a:rPr>
              <a:t>PENDING_TEACHER_REVIEW</a:t>
            </a:r>
            <a:r>
              <a:rPr sz="1300" b="0" i="0">
                <a:solidFill>
                  <a:srgbClr val="C7D0DE"/>
                </a:solidFill>
                <a:latin typeface="Segoe UI"/>
              </a:rPr>
              <a:t> draft. Nothing reaches students until a teacher reviews, edits and approves it — so AI mistakes can never go live.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SYSTEM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Key Logic — How It Runs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5212080" cy="2148840"/>
          </a:xfrm>
          <a:prstGeom prst="roundRect">
            <a:avLst>
              <a:gd name="adj" fmla="val 3000"/>
            </a:avLst>
          </a:prstGeom>
          <a:solidFill>
            <a:srgbClr val="0F141E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93852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A78BFA"/>
                </a:solidFill>
                <a:latin typeface="Consolas"/>
              </a:rPr>
              <a:t>SequenceBuilder.tsx — per-link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231136"/>
            <a:ext cx="4809744" cy="1600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C7D0DE"/>
                </a:solidFill>
                <a:latin typeface="Consolas"/>
              </a:rPr>
              <a:t>for (let p = 0; p &lt; slotCount-1; p++) {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7D0DE"/>
                </a:solidFill>
                <a:latin typeface="Consolas"/>
              </a:rPr>
              <a:t>  const correct =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7D0DE"/>
                </a:solidFill>
                <a:latin typeface="Consolas"/>
              </a:rPr>
              <a:t>    slots[p]   === answer[p] &amp;&amp;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7D0DE"/>
                </a:solidFill>
                <a:latin typeface="Consolas"/>
              </a:rPr>
              <a:t>    slots[p+1] === answer[p+1];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7D0DE"/>
                </a:solidFill>
                <a:latin typeface="Consolas"/>
              </a:rPr>
              <a:t>  newLinks.push(correct ? </a:t>
            </a:r>
            <a:r>
              <a:rPr sz="1050">
                <a:solidFill>
                  <a:srgbClr val="22C55E"/>
                </a:solidFill>
                <a:latin typeface="Consolas"/>
              </a:rPr>
              <a:t>'ok'</a:t>
            </a:r>
            <a:r>
              <a:rPr sz="1050">
                <a:solidFill>
                  <a:srgbClr val="C7D0DE"/>
                </a:solidFill>
                <a:latin typeface="Consolas"/>
              </a:rPr>
              <a:t> : </a:t>
            </a:r>
            <a:r>
              <a:rPr sz="1050">
                <a:solidFill>
                  <a:srgbClr val="EF4444"/>
                </a:solidFill>
                <a:latin typeface="Consolas"/>
              </a:rPr>
              <a:t>'bad'</a:t>
            </a:r>
            <a:r>
              <a:rPr sz="1050">
                <a:solidFill>
                  <a:srgbClr val="C7D0DE"/>
                </a:solidFill>
                <a:latin typeface="Consolas"/>
              </a:rPr>
              <a:t>);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7D0DE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120640" cy="2148840"/>
          </a:xfrm>
          <a:prstGeom prst="roundRect">
            <a:avLst>
              <a:gd name="adj" fmla="val 3000"/>
            </a:avLst>
          </a:prstGeom>
          <a:solidFill>
            <a:srgbClr val="0F141E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938528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A78BFA"/>
                </a:solidFill>
                <a:latin typeface="Consolas"/>
              </a:rPr>
              <a:t>content_service.py — idempotent XP award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231136"/>
            <a:ext cx="4718303" cy="1600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8B97A9"/>
                </a:solidFill>
                <a:latin typeface="Consolas"/>
              </a:rPr>
              <a:t># awarded only on first completion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7D0DE"/>
                </a:solidFill>
                <a:latin typeface="Consolas"/>
              </a:rPr>
              <a:t>award = </a:t>
            </a:r>
            <a:r>
              <a:rPr sz="1050">
                <a:solidFill>
                  <a:srgbClr val="F59E0B"/>
                </a:solidFill>
                <a:latin typeface="Consolas"/>
              </a:rPr>
              <a:t>0</a:t>
            </a:r>
            <a:r>
              <a:rPr sz="1050">
                <a:solidFill>
                  <a:srgbClr val="22D3EE"/>
                </a:solidFill>
                <a:latin typeface="Consolas"/>
              </a:rPr>
              <a:t> if already_completed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7D0DE"/>
                </a:solidFill>
                <a:latin typeface="Consolas"/>
              </a:rPr>
              <a:t>  else quest.xp_reward + (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7D0DE"/>
                </a:solidFill>
                <a:latin typeface="Consolas"/>
              </a:rPr>
              <a:t>     CLEAN_BUILD_BONUS if clean else </a:t>
            </a:r>
            <a:r>
              <a:rPr sz="1050">
                <a:solidFill>
                  <a:srgbClr val="F59E0B"/>
                </a:solidFill>
                <a:latin typeface="Consolas"/>
              </a:rPr>
              <a:t>0</a:t>
            </a:r>
            <a:r>
              <a:rPr sz="1050">
                <a:solidFill>
                  <a:srgbClr val="C7D0DE"/>
                </a:solidFill>
                <a:latin typeface="Consolas"/>
              </a:rPr>
              <a:t>)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22D3EE"/>
                </a:solidFill>
                <a:latin typeface="Consolas"/>
              </a:rPr>
              <a:t>if award &gt; 0:</a:t>
            </a:r>
          </a:p>
          <a:p>
            <a:pPr>
              <a:lnSpc>
                <a:spcPct val="112000"/>
              </a:lnSpc>
            </a:pPr>
            <a:r>
              <a:rPr sz="1050">
                <a:solidFill>
                  <a:srgbClr val="C7D0DE"/>
                </a:solidFill>
                <a:latin typeface="Consolas"/>
              </a:rPr>
              <a:t>  user_crud.add_xp(db, user, award)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519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8B97A9"/>
                </a:solidFill>
                <a:latin typeface="Segoe UI"/>
              </a:rPr>
              <a:t>REQUEST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617720"/>
            <a:ext cx="1673352" cy="603504"/>
          </a:xfrm>
          <a:prstGeom prst="roundRect">
            <a:avLst>
              <a:gd name="adj" fmla="val 7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7" y="4617720"/>
            <a:ext cx="145389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F6FB"/>
                </a:solidFill>
                <a:latin typeface="Segoe UI"/>
              </a:rPr>
              <a:t>Student plays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4617720"/>
            <a:ext cx="146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8B97A9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9191" y="4617720"/>
            <a:ext cx="1673352" cy="603504"/>
          </a:xfrm>
          <a:prstGeom prst="roundRect">
            <a:avLst>
              <a:gd name="adj" fmla="val 7000"/>
            </a:avLst>
          </a:prstGeom>
          <a:solidFill>
            <a:srgbClr val="161B2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88920" y="4617720"/>
            <a:ext cx="145389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F6FB"/>
                </a:solidFill>
                <a:latin typeface="Segoe UI"/>
              </a:rPr>
              <a:t>POST /complete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544" y="4617720"/>
            <a:ext cx="146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8B97A9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9704" y="4617720"/>
            <a:ext cx="1673352" cy="603504"/>
          </a:xfrm>
          <a:prstGeom prst="roundRect">
            <a:avLst>
              <a:gd name="adj" fmla="val 7000"/>
            </a:avLst>
          </a:prstGeom>
          <a:solidFill>
            <a:srgbClr val="161B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9432" y="4617720"/>
            <a:ext cx="145389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F6FB"/>
                </a:solidFill>
                <a:latin typeface="Segoe UI"/>
              </a:rPr>
              <a:t>Service verifies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367528"/>
            <a:ext cx="1673352" cy="603504"/>
          </a:xfrm>
          <a:prstGeom prst="roundRect">
            <a:avLst>
              <a:gd name="adj" fmla="val 7000"/>
            </a:avLst>
          </a:prstGeom>
          <a:solidFill>
            <a:srgbClr val="161B2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7" y="5367528"/>
            <a:ext cx="145389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F6FB"/>
                </a:solidFill>
                <a:latin typeface="Segoe UI"/>
              </a:rPr>
              <a:t>Award XP + recalc 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5367528"/>
            <a:ext cx="146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8B97A9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79191" y="5367528"/>
            <a:ext cx="1673352" cy="603504"/>
          </a:xfrm>
          <a:prstGeom prst="roundRect">
            <a:avLst>
              <a:gd name="adj" fmla="val 7000"/>
            </a:avLst>
          </a:prstGeom>
          <a:solidFill>
            <a:srgbClr val="161B27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88920" y="5367528"/>
            <a:ext cx="145389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F6FB"/>
                </a:solidFill>
                <a:latin typeface="Segoe UI"/>
              </a:rPr>
              <a:t>Check achievements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52544" y="5367528"/>
            <a:ext cx="1463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8B97A9"/>
                </a:solidFill>
                <a:latin typeface="Segoe U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9704" y="5367528"/>
            <a:ext cx="1673352" cy="603504"/>
          </a:xfrm>
          <a:prstGeom prst="roundRect">
            <a:avLst>
              <a:gd name="adj" fmla="val 7000"/>
            </a:avLst>
          </a:prstGeom>
          <a:solidFill>
            <a:srgbClr val="161B27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99432" y="5367528"/>
            <a:ext cx="145389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F6FB"/>
                </a:solidFill>
                <a:latin typeface="Segoe UI"/>
              </a:rPr>
              <a:t>Return authoritative user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617720"/>
            <a:ext cx="4937760" cy="1353312"/>
          </a:xfrm>
          <a:prstGeom prst="roundRect">
            <a:avLst>
              <a:gd name="adj" fmla="val 4000"/>
            </a:avLst>
          </a:prstGeom>
          <a:solidFill>
            <a:srgbClr val="0F141E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0528" y="4754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A78BFA"/>
                </a:solidFill>
                <a:latin typeface="Segoe UI"/>
              </a:rPr>
              <a:t>Anti-spoof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502920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7D0DE"/>
                </a:solidFill>
                <a:latin typeface="Segoe UI"/>
              </a:rPr>
              <a:t>CODING quests are re-executed and re-graded on the server before any XP is granted — the browser is never trusted.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RESULTS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The Working Platform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1423" y="1801368"/>
            <a:ext cx="4400832" cy="2203704"/>
          </a:xfrm>
          <a:prstGeom prst="rect">
            <a:avLst/>
          </a:prstGeom>
          <a:solidFill>
            <a:srgbClr val="000000"/>
          </a:solidFill>
          <a:ln w="1587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7_valid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55" y="1828800"/>
            <a:ext cx="4345968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8855" y="4032503"/>
            <a:ext cx="43459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Success — pipeline restored, XP animates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00925" y="1801368"/>
            <a:ext cx="3537508" cy="2203704"/>
          </a:xfrm>
          <a:prstGeom prst="rect">
            <a:avLst/>
          </a:prstGeom>
          <a:solidFill>
            <a:srgbClr val="000000"/>
          </a:solidFill>
          <a:ln w="1587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9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357" y="1828800"/>
            <a:ext cx="3482644" cy="2148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28357" y="4032503"/>
            <a:ext cx="34826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Profile — achievements grid &amp; stats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4700651"/>
            <a:ext cx="5175503" cy="1251458"/>
          </a:xfrm>
          <a:prstGeom prst="rect">
            <a:avLst/>
          </a:prstGeom>
          <a:solidFill>
            <a:srgbClr val="000000"/>
          </a:solidFill>
          <a:ln w="1587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10_leader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728083"/>
            <a:ext cx="5120640" cy="11965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5979541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Leaderboard — students ranked by XP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19332" y="4224528"/>
            <a:ext cx="3500695" cy="2203704"/>
          </a:xfrm>
          <a:prstGeom prst="rect">
            <a:avLst/>
          </a:prstGeom>
          <a:solidFill>
            <a:srgbClr val="000000"/>
          </a:solidFill>
          <a:ln w="15875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11_teacher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6764" y="4442585"/>
            <a:ext cx="3445831" cy="17675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46764" y="6455664"/>
            <a:ext cx="34458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8B97A9"/>
                </a:solidFill>
                <a:latin typeface="Segoe UI"/>
              </a:rPr>
              <a:t>Rapid Arena — timed MCQ with hearts &amp; streak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RESULTS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Objectives Met &amp; Verification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8B97A9"/>
                </a:solidFill>
                <a:latin typeface="Segoe UI"/>
              </a:rPr>
              <a:t>OBJECTIVES ACHIEVED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221991"/>
            <a:ext cx="329184" cy="32918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3291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1945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Gamified platform with Skill-Tree progression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25496"/>
            <a:ext cx="329184" cy="32918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798064"/>
            <a:ext cx="3291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98064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Three mechanics — Sequence, Code Forge, Arena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428999"/>
            <a:ext cx="329184" cy="32918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401568"/>
            <a:ext cx="3291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401568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AI level generation (live on Groq LLM)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032504"/>
            <a:ext cx="329184" cy="32918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05072"/>
            <a:ext cx="3291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005072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Teacher content management + approval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636008"/>
            <a:ext cx="329184" cy="32918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608576"/>
            <a:ext cx="3291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608576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XP, levels, achievements &amp; leaderboard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239512"/>
            <a:ext cx="329184" cy="32918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212080"/>
            <a:ext cx="32918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2120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C7D0DE"/>
                </a:solidFill>
                <a:latin typeface="Segoe UI"/>
              </a:rPr>
              <a:t>Full-stack, layered, scalable architecture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148840"/>
            <a:ext cx="4983480" cy="3977639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2148840"/>
            <a:ext cx="4983480" cy="502920"/>
          </a:xfrm>
          <a:prstGeom prst="rect">
            <a:avLst/>
          </a:prstGeom>
          <a:solidFill>
            <a:srgbClr val="1C22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214884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A78BFA"/>
                </a:solidFill>
                <a:latin typeface="Segoe UI"/>
              </a:rPr>
              <a:t>END-TO-END VERIFICATION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78892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4F6FB"/>
                </a:solidFill>
                <a:latin typeface="Segoe UI"/>
              </a:rPr>
              <a:t>Full student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7889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D0DE"/>
                </a:solidFill>
                <a:latin typeface="Segoe UI"/>
              </a:rPr>
              <a:t>login → play → XP → level → 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91088" y="2788920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255263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4F6FB"/>
                </a:solidFill>
                <a:latin typeface="Segoe UI"/>
              </a:rPr>
              <a:t>Sequence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255263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D0DE"/>
                </a:solidFill>
                <a:latin typeface="Segoe UI"/>
              </a:rPr>
              <a:t>per-link pass/fail, clean-build bonus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91088" y="3255263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721608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4F6FB"/>
                </a:solidFill>
                <a:latin typeface="Segoe UI"/>
              </a:rPr>
              <a:t>Code Forge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7216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D0DE"/>
                </a:solidFill>
                <a:latin typeface="Segoe UI"/>
              </a:rPr>
              <a:t>correct → pass · wrong → fail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91088" y="3721608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187952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4F6FB"/>
                </a:solidFill>
                <a:latin typeface="Segoe UI"/>
              </a:rPr>
              <a:t>AI generation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4187952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D0DE"/>
                </a:solidFill>
                <a:latin typeface="Segoe UI"/>
              </a:rPr>
              <a:t>live draft produced via Groq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91088" y="4187952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654296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4F6FB"/>
                </a:solidFill>
                <a:latin typeface="Segoe UI"/>
              </a:rPr>
              <a:t>Approval gate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4654296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D0DE"/>
                </a:solidFill>
                <a:latin typeface="Segoe UI"/>
              </a:rPr>
              <a:t>drafts hidden from students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91088" y="4654296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120640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4F6FB"/>
                </a:solidFill>
                <a:latin typeface="Segoe UI"/>
              </a:rPr>
              <a:t>Persistence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51206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D0DE"/>
                </a:solidFill>
                <a:latin typeface="Segoe UI"/>
              </a:rPr>
              <a:t>XP survives across sessions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91088" y="5120640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586983"/>
            <a:ext cx="19659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4F6FB"/>
                </a:solidFill>
                <a:latin typeface="Segoe UI"/>
              </a:rPr>
              <a:t>Console errors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5586983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7D0DE"/>
                </a:solidFill>
                <a:latin typeface="Segoe UI"/>
              </a:rPr>
              <a:t>zero on all routes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91088" y="5586983"/>
            <a:ext cx="274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2C55E"/>
                </a:solidFill>
                <a:latin typeface="Segoe UI"/>
              </a:rPr>
              <a:t>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Future Scope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74519"/>
            <a:ext cx="5029200" cy="1115568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1874519"/>
            <a:ext cx="5029200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209397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4F6FB"/>
                </a:solidFill>
                <a:latin typeface="Segoe UI"/>
              </a:rPr>
              <a:t>Additional Languages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496312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7D0DE"/>
                </a:solidFill>
                <a:latin typeface="Segoe UI"/>
              </a:rPr>
              <a:t>Extend the code runner beyond Python (Java, C++, JS)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74519"/>
            <a:ext cx="5029200" cy="1115568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502920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209397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4F6FB"/>
                </a:solidFill>
                <a:latin typeface="Segoe UI"/>
              </a:rPr>
              <a:t>Adaptive Difficulty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496312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7D0DE"/>
                </a:solidFill>
                <a:latin typeface="Segoe UI"/>
              </a:rPr>
              <a:t>AI tunes challenge level to each student's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154679"/>
            <a:ext cx="5029200" cy="1115568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3154679"/>
            <a:ext cx="5029200" cy="82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4712" y="3374135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4F6FB"/>
                </a:solidFill>
                <a:latin typeface="Segoe UI"/>
              </a:rPr>
              <a:t>Native Mobile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776472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7D0DE"/>
                </a:solidFill>
                <a:latin typeface="Segoe UI"/>
              </a:rPr>
              <a:t>Already mobile-first UI eases a React Native 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154679"/>
            <a:ext cx="5029200" cy="1115568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0" y="3154679"/>
            <a:ext cx="502920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3374135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4F6FB"/>
                </a:solidFill>
                <a:latin typeface="Segoe UI"/>
              </a:rPr>
              <a:t>Multiplayer Battles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776472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7D0DE"/>
                </a:solidFill>
                <a:latin typeface="Segoe UI"/>
              </a:rPr>
              <a:t>Real-time competitive coding challenges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434840"/>
            <a:ext cx="5029200" cy="1115568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68680" y="4434840"/>
            <a:ext cx="5029200" cy="8229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24712" y="465429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4F6FB"/>
                </a:solidFill>
                <a:latin typeface="Segoe UI"/>
              </a:rPr>
              <a:t>LMS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" y="5056631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7D0DE"/>
                </a:solidFill>
                <a:latin typeface="Segoe UI"/>
              </a:rPr>
              <a:t>Plug into Moodle / Google Classroom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434840"/>
            <a:ext cx="5029200" cy="1115568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4434840"/>
            <a:ext cx="502920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82512" y="465429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F4F6FB"/>
                </a:solidFill>
                <a:latin typeface="Segoe UI"/>
              </a:rPr>
              <a:t>Hardened Sandbox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5056631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7D0DE"/>
                </a:solidFill>
                <a:latin typeface="Segoe UI"/>
              </a:rPr>
              <a:t>Containerised judge (Judge0) for production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17220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A78BFA"/>
                </a:solidFill>
                <a:latin typeface="Segoe UI"/>
              </a:rPr>
              <a:t>Design enables growth: </a:t>
            </a:r>
            <a:r>
              <a:rPr sz="1250" b="0" i="0">
                <a:solidFill>
                  <a:srgbClr val="C7D0DE"/>
                </a:solidFill>
                <a:latin typeface="Segoe UI"/>
              </a:rPr>
              <a:t>a new game mechanic = one enum value + one component + one validator — the engine is generic.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82296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C3AED"/>
                </a:solidFill>
                <a:latin typeface="Segoe U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74980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Segoe UI"/>
              </a:rPr>
              <a:t>Conclusion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63072" cy="0"/>
          </a:xfrm>
          <a:prstGeom prst="line">
            <a:avLst/>
          </a:prstGeom>
          <a:ln w="12700">
            <a:solidFill>
              <a:srgbClr val="2A31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Questigo — Game-Based Interactive Learning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5566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5A6476"/>
                </a:solidFill>
                <a:latin typeface="Segoe U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20240"/>
            <a:ext cx="10378440" cy="137160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97840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1">
                <a:solidFill>
                  <a:srgbClr val="F4F6FB"/>
                </a:solidFill>
                <a:latin typeface="Segoe UI"/>
              </a:rPr>
              <a:t>“Game-based learning combined with AI can transform programming education into an engaging, hands-on experience.”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7033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6850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4F6FB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5760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4F6FB"/>
                </a:solidFill>
                <a:latin typeface="Segoe UI"/>
              </a:rPr>
              <a:t>A complete, working platform — </a:t>
            </a:r>
            <a:r>
              <a:rPr sz="1500" b="0" i="0">
                <a:solidFill>
                  <a:srgbClr val="C7D0DE"/>
                </a:solidFill>
                <a:latin typeface="Segoe UI"/>
              </a:rPr>
              <a:t>students learn programming by playing, not by quizzes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526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50799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4F6FB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48056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4F6FB"/>
                </a:solidFill>
                <a:latin typeface="Segoe UI"/>
              </a:rPr>
              <a:t>AI does the heavy lifting — </a:t>
            </a:r>
            <a:r>
              <a:rPr sz="1500" b="0" i="0">
                <a:solidFill>
                  <a:srgbClr val="C7D0DE"/>
                </a:solidFill>
                <a:latin typeface="Segoe UI"/>
              </a:rPr>
              <a:t>teachers turn notes into quests — and stay in control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3492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33095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4F6FB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303520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4F6FB"/>
                </a:solidFill>
                <a:latin typeface="Segoe UI"/>
              </a:rPr>
              <a:t>Built to grow — </a:t>
            </a:r>
            <a:r>
              <a:rPr sz="1500" b="0" i="0">
                <a:solidFill>
                  <a:srgbClr val="C7D0DE"/>
                </a:solidFill>
                <a:latin typeface="Segoe UI"/>
              </a:rPr>
              <a:t>one unified schema supports many game mechanics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49240" y="1554480"/>
            <a:ext cx="1463040" cy="146304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49240" y="1554480"/>
            <a:ext cx="146304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400" b="1" i="0">
                <a:solidFill>
                  <a:srgbClr val="F4F6FB"/>
                </a:solidFill>
                <a:latin typeface="Segoe UI"/>
              </a:rP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0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200" b="1" i="0">
                <a:solidFill>
                  <a:srgbClr val="F4F6FB"/>
                </a:solidFill>
                <a:latin typeface="Segoe U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A78BFA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4F6FB"/>
                </a:solidFill>
                <a:latin typeface="Segoe UI"/>
              </a:rPr>
              <a:t>M. Akshay Yadav</a:t>
            </a:r>
            <a:r>
              <a:rPr sz="1400" b="0" i="0">
                <a:solidFill>
                  <a:srgbClr val="C7D0DE"/>
                </a:solidFill>
                <a:latin typeface="Segoe UI"/>
              </a:rPr>
              <a:t>   ·   Roll No. 100524862041   ·   Guide: Dr. V. Sukanya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8B97A9"/>
                </a:solidFill>
                <a:latin typeface="Segoe UI"/>
              </a:rPr>
              <a:t>Department of CSE · University College of Engineering (A) · Osmania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2011</Words>
  <Application>Microsoft Office PowerPoint</Application>
  <PresentationFormat>Widescreen</PresentationFormat>
  <Paragraphs>422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Akshay M</cp:lastModifiedBy>
  <cp:revision>5</cp:revision>
  <dcterms:created xsi:type="dcterms:W3CDTF">2013-01-27T09:14:16Z</dcterms:created>
  <dcterms:modified xsi:type="dcterms:W3CDTF">2026-07-04T07:28:19Z</dcterms:modified>
  <cp:category/>
</cp:coreProperties>
</file>