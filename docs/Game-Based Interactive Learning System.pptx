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Poppins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Inter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InterMedium-regular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714e72544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714e7254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714e7254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d714e72544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10" Type="http://schemas.openxmlformats.org/officeDocument/2006/relationships/image" Target="../media/image13.png"/><Relationship Id="rId9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1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39.png"/><Relationship Id="rId13" Type="http://schemas.openxmlformats.org/officeDocument/2006/relationships/image" Target="../media/image24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5" Type="http://schemas.openxmlformats.org/officeDocument/2006/relationships/image" Target="../media/image35.png"/><Relationship Id="rId14" Type="http://schemas.openxmlformats.org/officeDocument/2006/relationships/image" Target="../media/image19.png"/><Relationship Id="rId17" Type="http://schemas.openxmlformats.org/officeDocument/2006/relationships/image" Target="../media/image17.png"/><Relationship Id="rId16" Type="http://schemas.openxmlformats.org/officeDocument/2006/relationships/image" Target="../media/image21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4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9" Type="http://schemas.openxmlformats.org/officeDocument/2006/relationships/image" Target="../media/image41.png"/><Relationship Id="rId5" Type="http://schemas.openxmlformats.org/officeDocument/2006/relationships/image" Target="../media/image27.png"/><Relationship Id="rId6" Type="http://schemas.openxmlformats.org/officeDocument/2006/relationships/image" Target="../media/image40.png"/><Relationship Id="rId7" Type="http://schemas.openxmlformats.org/officeDocument/2006/relationships/image" Target="../media/image23.png"/><Relationship Id="rId8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37.png"/><Relationship Id="rId1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36.png"/><Relationship Id="rId8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png"/><Relationship Id="rId10" Type="http://schemas.openxmlformats.org/officeDocument/2006/relationships/image" Target="../media/image53.png"/><Relationship Id="rId1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44.png"/><Relationship Id="rId9" Type="http://schemas.openxmlformats.org/officeDocument/2006/relationships/image" Target="../media/image43.png"/><Relationship Id="rId5" Type="http://schemas.openxmlformats.org/officeDocument/2006/relationships/image" Target="../media/image56.png"/><Relationship Id="rId6" Type="http://schemas.openxmlformats.org/officeDocument/2006/relationships/image" Target="../media/image42.png"/><Relationship Id="rId7" Type="http://schemas.openxmlformats.org/officeDocument/2006/relationships/image" Target="../media/image48.png"/><Relationship Id="rId8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47.png"/><Relationship Id="rId5" Type="http://schemas.openxmlformats.org/officeDocument/2006/relationships/image" Target="../media/image6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49.png"/><Relationship Id="rId9" Type="http://schemas.openxmlformats.org/officeDocument/2006/relationships/image" Target="../media/image45.png"/><Relationship Id="rId5" Type="http://schemas.openxmlformats.org/officeDocument/2006/relationships/image" Target="../media/image59.png"/><Relationship Id="rId6" Type="http://schemas.openxmlformats.org/officeDocument/2006/relationships/image" Target="../media/image54.png"/><Relationship Id="rId7" Type="http://schemas.openxmlformats.org/officeDocument/2006/relationships/image" Target="../media/image61.png"/><Relationship Id="rId8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64.png"/><Relationship Id="rId9" Type="http://schemas.openxmlformats.org/officeDocument/2006/relationships/image" Target="../media/image65.png"/><Relationship Id="rId5" Type="http://schemas.openxmlformats.org/officeDocument/2006/relationships/image" Target="../media/image62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5450" y="4648259"/>
            <a:ext cx="8501700" cy="12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615439" y="1076991"/>
            <a:ext cx="8961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Game-Based </a:t>
            </a:r>
            <a:r>
              <a:rPr b="1" i="0" lang="en-US" sz="5400" u="none" cap="none" strike="noStrike">
                <a:solidFill>
                  <a:srgbClr val="00D4FF"/>
                </a:solidFill>
                <a:latin typeface="Poppins"/>
                <a:ea typeface="Poppins"/>
                <a:cs typeface="Poppins"/>
                <a:sym typeface="Poppins"/>
              </a:rPr>
              <a:t>Interactive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Learning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324891"/>
            <a:ext cx="762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AI-Assisted Platform for Learning Programming Concepts through Interactive Game Mechanics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946675" y="-1493125"/>
            <a:ext cx="13811550" cy="94753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995700" y="4819634"/>
            <a:ext cx="207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PRESENTED BY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995800" y="5123584"/>
            <a:ext cx="2073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M. Akshay Yadav 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100524862041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922400" y="4833536"/>
            <a:ext cx="207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COURSE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295750" y="5123584"/>
            <a:ext cx="3326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 -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MCA Major Project</a:t>
            </a:r>
            <a:endParaRPr b="0" i="0" sz="1500" u="none" cap="none" strike="noStrike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IV Semester - 2026</a:t>
            </a:r>
            <a:endParaRPr sz="15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7849098" y="4819634"/>
            <a:ext cx="1684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PROJECT GUIDE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999775" y="5123584"/>
            <a:ext cx="147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Dr.V.Sukanya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319587"/>
            <a:ext cx="5038725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962025" y="581025"/>
            <a:ext cx="109813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771525" y="581025"/>
            <a:ext cx="5715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152525" y="1747837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Passive learning methods (MCQs) fail to build logic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52525" y="2243137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Lack of interactivity leads to loss of motivation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52525" y="2738437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Significant difficulty in visualizing abstract logic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52525" y="3233737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manual effort required for exercise creation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52525" y="3729037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Existing platforms ignore the learning experience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95375" y="4614862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Problem: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95375" y="4967287"/>
            <a:ext cx="441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Students need a more engaging and practical way to understand programming concepts beyond static quizzes.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1800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2955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79082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328612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37814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41280" y="1666525"/>
            <a:ext cx="5909046" cy="33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308110"/>
            <a:ext cx="10648949" cy="1321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293" y="3182362"/>
            <a:ext cx="3390900" cy="1573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79318" y="3189263"/>
            <a:ext cx="3390900" cy="15723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8343" y="3189263"/>
            <a:ext cx="3390900" cy="1573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0300" y="5004499"/>
            <a:ext cx="3390900" cy="1573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79318" y="5004498"/>
            <a:ext cx="3390900" cy="1573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8343" y="5004508"/>
            <a:ext cx="3390900" cy="1573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5568" y="4649701"/>
            <a:ext cx="280035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5818" y="4634918"/>
            <a:ext cx="280035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5568" y="6478060"/>
            <a:ext cx="280035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74593" y="6478060"/>
            <a:ext cx="280035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03618" y="6478060"/>
            <a:ext cx="280035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962025" y="432400"/>
            <a:ext cx="109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PRIMARY OBJECTIVE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771525" y="432400"/>
            <a:ext cx="5730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750293" y="2724366"/>
            <a:ext cx="1118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D4FF"/>
                </a:solidFill>
                <a:latin typeface="Poppins"/>
                <a:ea typeface="Poppins"/>
                <a:cs typeface="Poppins"/>
                <a:sym typeface="Poppins"/>
              </a:rPr>
              <a:t>Specific Objectives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066800" y="1603385"/>
            <a:ext cx="10058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develop a </a:t>
            </a:r>
            <a:r>
              <a:rPr b="0" i="0" lang="en-US" sz="1800" u="none" cap="none" strike="noStrike">
                <a:solidFill>
                  <a:srgbClr val="00D4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gamified learning platform</a:t>
            </a: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that enables students to learn programming concepts through interactive game-based challenges.</a:t>
            </a:r>
            <a:endParaRPr/>
          </a:p>
        </p:txBody>
      </p:sp>
      <p:pic>
        <p:nvPicPr>
          <p:cNvPr descr="image.png" id="137" name="Google Shape;13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74143" y="352555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1045418" y="3961775"/>
            <a:ext cx="2800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Convert programming topics into structured game levels</a:t>
            </a:r>
            <a:endParaRPr/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74593" y="351815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4674518" y="3950675"/>
            <a:ext cx="2800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Enable teachers to create subjects and manage content</a:t>
            </a:r>
            <a:endParaRPr/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03618" y="353395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8303618" y="3974375"/>
            <a:ext cx="2800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Integrate AI to assist in automatic level generation</a:t>
            </a:r>
            <a:endParaRPr/>
          </a:p>
        </p:txBody>
      </p:sp>
      <p:pic>
        <p:nvPicPr>
          <p:cNvPr descr="image.png" id="143" name="Google Shape;143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45418" y="534022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1045568" y="5751033"/>
            <a:ext cx="2800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Support multiple valid solutions for coding challenges</a:t>
            </a:r>
            <a:endParaRPr/>
          </a:p>
        </p:txBody>
      </p:sp>
      <p:pic>
        <p:nvPicPr>
          <p:cNvPr descr="image.png" id="145" name="Google Shape;145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674443" y="5340224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4674593" y="5751033"/>
            <a:ext cx="2800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Track student progress using scoring and ranking systems</a:t>
            </a:r>
            <a:endParaRPr/>
          </a:p>
        </p:txBody>
      </p:sp>
      <p:pic>
        <p:nvPicPr>
          <p:cNvPr descr="image.png" id="147" name="Google Shape;147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303468" y="534022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8303618" y="5751033"/>
            <a:ext cx="2800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Build scalable full-stack system architecture</a:t>
            </a:r>
            <a:endParaRPr/>
          </a:p>
        </p:txBody>
      </p:sp>
      <p:pic>
        <p:nvPicPr>
          <p:cNvPr descr="image.png" id="149" name="Google Shape;14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6068" y="4666518"/>
            <a:ext cx="2800350" cy="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5029200"/>
            <a:ext cx="10839451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866775" y="48577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LITERATURE SURVEY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676275" y="485775"/>
            <a:ext cx="47700" cy="60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923925" y="5181600"/>
            <a:ext cx="1086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9F43"/>
                </a:solidFill>
                <a:latin typeface="Inter"/>
                <a:ea typeface="Inter"/>
                <a:cs typeface="Inter"/>
                <a:sym typeface="Inter"/>
              </a:rPr>
              <a:t>LITERATURE GAP SUMMARY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47725" y="1485900"/>
            <a:ext cx="5300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D4FF"/>
                </a:solidFill>
                <a:latin typeface="Inter"/>
                <a:ea typeface="Inter"/>
                <a:cs typeface="Inter"/>
                <a:sym typeface="Inter"/>
              </a:rPr>
              <a:t>Deterding et al. (2011)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47725" y="1704975"/>
            <a:ext cx="5048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Gamification Design Framework: Core principles for digital systems.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47725" y="1876425"/>
            <a:ext cx="504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9F43"/>
                </a:solidFill>
                <a:latin typeface="Inter Medium"/>
                <a:ea typeface="Inter Medium"/>
                <a:cs typeface="Inter Medium"/>
                <a:sym typeface="Inter Medium"/>
              </a:rPr>
              <a:t>Gap: Lacks specific implementation for programming education.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324600" y="1485900"/>
            <a:ext cx="5300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D4FF"/>
                </a:solidFill>
                <a:latin typeface="Inter"/>
                <a:ea typeface="Inter"/>
                <a:cs typeface="Inter"/>
                <a:sym typeface="Inter"/>
              </a:rPr>
              <a:t>OpenAI Research (2023)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324600" y="1704975"/>
            <a:ext cx="5048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Generative AI: Use of AI in generating educational explanations.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324600" y="1876425"/>
            <a:ext cx="504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9F43"/>
                </a:solidFill>
                <a:latin typeface="Inter Medium"/>
                <a:ea typeface="Inter Medium"/>
                <a:cs typeface="Inter Medium"/>
                <a:sym typeface="Inter Medium"/>
              </a:rPr>
              <a:t>Gap: Focuses on tutoring, not structured game systems.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847725" y="2381250"/>
            <a:ext cx="5300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D4FF"/>
                </a:solidFill>
                <a:latin typeface="Inter"/>
                <a:ea typeface="Inter"/>
                <a:cs typeface="Inter"/>
                <a:sym typeface="Inter"/>
              </a:rPr>
              <a:t>Hamari et al. (2014)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847725" y="2600325"/>
            <a:ext cx="5048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Motivation Study: Gamification improves participation significantly.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47725" y="2771775"/>
            <a:ext cx="504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9F43"/>
                </a:solidFill>
                <a:latin typeface="Inter Medium"/>
                <a:ea typeface="Inter Medium"/>
                <a:cs typeface="Inter Medium"/>
                <a:sym typeface="Inter Medium"/>
              </a:rPr>
              <a:t>Gap: Does not address technical design of interactive coding.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6324600" y="2381250"/>
            <a:ext cx="5300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D4FF"/>
                </a:solidFill>
                <a:latin typeface="Inter"/>
                <a:ea typeface="Inter"/>
                <a:cs typeface="Inter"/>
                <a:sym typeface="Inter"/>
              </a:rPr>
              <a:t>Kumar et al. (2024)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324600" y="2600325"/>
            <a:ext cx="5048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Retention Study: Leaderboards increase persistence in learning.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324600" y="2771775"/>
            <a:ext cx="504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9F43"/>
                </a:solidFill>
                <a:latin typeface="Inter Medium"/>
                <a:ea typeface="Inter Medium"/>
                <a:cs typeface="Inter Medium"/>
                <a:sym typeface="Inter Medium"/>
              </a:rPr>
              <a:t>Gap: Relies heavily on manually created content.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847725" y="3276600"/>
            <a:ext cx="5300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D4FF"/>
                </a:solidFill>
                <a:latin typeface="Inter"/>
                <a:ea typeface="Inter"/>
                <a:cs typeface="Inter"/>
                <a:sym typeface="Inter"/>
              </a:rPr>
              <a:t>Code.org (2020)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847725" y="3495675"/>
            <a:ext cx="5048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Interactive Framework: Benefits of visual coding for basics.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847725" y="3667125"/>
            <a:ext cx="504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9F43"/>
                </a:solidFill>
                <a:latin typeface="Inter Medium"/>
                <a:ea typeface="Inter Medium"/>
                <a:cs typeface="Inter Medium"/>
                <a:sym typeface="Inter Medium"/>
              </a:rPr>
              <a:t>Gap: Limited flexibility for teacher-customized paths.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6324600" y="3276600"/>
            <a:ext cx="5300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D4FF"/>
                </a:solidFill>
                <a:latin typeface="Inter"/>
                <a:ea typeface="Inter"/>
                <a:cs typeface="Inter"/>
                <a:sym typeface="Inter"/>
              </a:rPr>
              <a:t>Wang et al. (2024)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324600" y="3495675"/>
            <a:ext cx="5048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Adaptive Systems: discusses personalizing difficulty with AI models.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6324600" y="3667125"/>
            <a:ext cx="504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9F43"/>
                </a:solidFill>
                <a:latin typeface="Inter Medium"/>
                <a:ea typeface="Inter Medium"/>
                <a:cs typeface="Inter Medium"/>
                <a:sym typeface="Inter Medium"/>
              </a:rPr>
              <a:t>Gap: Limited focus on practical coding exercises.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847725" y="4171950"/>
            <a:ext cx="5300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D4FF"/>
                </a:solidFill>
                <a:latin typeface="Inter"/>
                <a:ea typeface="Inter"/>
                <a:cs typeface="Inter"/>
                <a:sym typeface="Inter"/>
              </a:rPr>
              <a:t>García et al. (2021)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847725" y="4391025"/>
            <a:ext cx="5048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Problem Solving: Logic improvement via structured digital games.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847725" y="4562475"/>
            <a:ext cx="504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9F43"/>
                </a:solidFill>
                <a:latin typeface="Inter Medium"/>
                <a:ea typeface="Inter Medium"/>
                <a:cs typeface="Inter Medium"/>
                <a:sym typeface="Inter Medium"/>
              </a:rPr>
              <a:t>Gap: Does not integrate AI-assisted generation.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6324600" y="4171950"/>
            <a:ext cx="5300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0D4FF"/>
                </a:solidFill>
                <a:latin typeface="Inter"/>
                <a:ea typeface="Inter"/>
                <a:cs typeface="Inter"/>
                <a:sym typeface="Inter"/>
              </a:rPr>
              <a:t>Li et al. (2025)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6324600" y="4391025"/>
            <a:ext cx="5048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Automated Generation: uses LLMs for learning materials.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6324600" y="4562475"/>
            <a:ext cx="504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9F43"/>
                </a:solidFill>
                <a:latin typeface="Inter Medium"/>
                <a:ea typeface="Inter Medium"/>
                <a:cs typeface="Inter Medium"/>
                <a:sym typeface="Inter Medium"/>
              </a:rPr>
              <a:t>Gap: No integration into interactive game environments.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1066800" y="5467350"/>
            <a:ext cx="4886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Focus on gamification without AI support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6381750" y="5467350"/>
            <a:ext cx="4886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Manual content creation reliance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1066800" y="5667375"/>
            <a:ext cx="4886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Quizzes emphasized over practical coding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6381750" y="5667375"/>
            <a:ext cx="4886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Lack of teacher-driven customization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1066800" y="5867400"/>
            <a:ext cx="4886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used but missing interactive environments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923925" y="5467350"/>
            <a:ext cx="66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9F4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6238875" y="5467350"/>
            <a:ext cx="66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9F4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923925" y="5667375"/>
            <a:ext cx="66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9F4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6238875" y="5667375"/>
            <a:ext cx="66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9F4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923925" y="5867400"/>
            <a:ext cx="66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9F43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800600"/>
            <a:ext cx="5038725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 txBox="1"/>
          <p:nvPr/>
        </p:nvSpPr>
        <p:spPr>
          <a:xfrm>
            <a:off x="962025" y="581025"/>
            <a:ext cx="109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WHAT’S </a:t>
            </a: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UNIQUE</a:t>
            </a:r>
            <a:r>
              <a:rPr b="1"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?</a:t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771525" y="581025"/>
            <a:ext cx="5715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1152525" y="1924050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Learning through </a:t>
            </a:r>
            <a:r>
              <a:rPr b="0" i="0" lang="en-US" sz="1500" u="none" cap="none" strike="noStrike">
                <a:solidFill>
                  <a:srgbClr val="00D4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game mechanics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instead of quizzes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1152525" y="2724150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AI-assisted level generation reduces manual effort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1152525" y="3219450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Supports multiple valid coding solutions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1152525" y="3714750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Data-driven level design architecture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1152525" y="4210050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Combines gamification with ed-tech research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1066800" y="5095875"/>
            <a:ext cx="4448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Contribution</a:t>
            </a:r>
            <a:r>
              <a:rPr b="1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Bridges the gap between theoretical learning and practical coding skills.</a:t>
            </a:r>
            <a:endParaRPr/>
          </a:p>
        </p:txBody>
      </p:sp>
      <p:pic>
        <p:nvPicPr>
          <p:cNvPr descr="image.png" id="207" name="Google Shape;20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19764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7765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2718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376713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426243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29256" y="1592562"/>
            <a:ext cx="5828569" cy="41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5703093"/>
            <a:ext cx="10839451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" y="1564481"/>
            <a:ext cx="3486150" cy="2481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2925" y="1564481"/>
            <a:ext cx="3486150" cy="2481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29575" y="1564481"/>
            <a:ext cx="3486150" cy="2481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275" y="4521993"/>
            <a:ext cx="2602706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21856" y="4521993"/>
            <a:ext cx="2602706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67437" y="4521993"/>
            <a:ext cx="2602706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13018" y="4521993"/>
            <a:ext cx="260270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/>
        </p:nvSpPr>
        <p:spPr>
          <a:xfrm>
            <a:off x="866775" y="48577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PROPOSED SYSTEM SOLUTION</a:t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676275" y="485775"/>
            <a:ext cx="57300" cy="60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819150" y="5845968"/>
            <a:ext cx="105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PRIMARY GOAL: Transforming theoretical syntax mastery into </a:t>
            </a:r>
            <a:r>
              <a:rPr b="0" i="0" lang="en-US" sz="1200" u="none" cap="none" strike="noStrike">
                <a:solidFill>
                  <a:srgbClr val="00D4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Applied Algorithmic Problem-Solving</a:t>
            </a:r>
            <a:endParaRPr>
              <a:solidFill>
                <a:srgbClr val="00D4FF"/>
              </a:solidFill>
            </a:endParaRPr>
          </a:p>
        </p:txBody>
      </p:sp>
      <p:pic>
        <p:nvPicPr>
          <p:cNvPr descr="image.png" id="229" name="Google Shape;229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3925" y="1812131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8"/>
          <p:cNvSpPr txBox="1"/>
          <p:nvPr/>
        </p:nvSpPr>
        <p:spPr>
          <a:xfrm>
            <a:off x="923925" y="2240756"/>
            <a:ext cx="314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Game-Centric Pedagogy</a:t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923925" y="2602706"/>
            <a:ext cx="2991000" cy="9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923925" y="2726531"/>
            <a:ext cx="29910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Translating abstract Python syntax (Loops, Conditionals, Data Structures) into interactive level mechanics. Each level serves as a sandbox where code logic directly influences game world state.</a:t>
            </a:r>
            <a:endParaRPr/>
          </a:p>
        </p:txBody>
      </p:sp>
      <p:pic>
        <p:nvPicPr>
          <p:cNvPr descr="image.png" id="233" name="Google Shape;233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00575" y="1812131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8"/>
          <p:cNvSpPr txBox="1"/>
          <p:nvPr/>
        </p:nvSpPr>
        <p:spPr>
          <a:xfrm>
            <a:off x="4600575" y="2240756"/>
            <a:ext cx="314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AI-Driven Orchestration</a:t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4600575" y="2602706"/>
            <a:ext cx="2991000" cy="9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4600575" y="2726531"/>
            <a:ext cx="29910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Integration of Generative AI (LLMs) to automate challenge synthesis. AI parses teacher-defined topics to generate unique problem statements, boilerplate code, and hidden test cases.</a:t>
            </a:r>
            <a:endParaRPr/>
          </a:p>
        </p:txBody>
      </p:sp>
      <p:pic>
        <p:nvPicPr>
          <p:cNvPr descr="image.png" id="237" name="Google Shape;237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77225" y="1812131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 txBox="1"/>
          <p:nvPr/>
        </p:nvSpPr>
        <p:spPr>
          <a:xfrm>
            <a:off x="8277225" y="2240756"/>
            <a:ext cx="314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Dynamic Evaluation</a:t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8277225" y="2602706"/>
            <a:ext cx="2991000" cy="9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8277225" y="2726531"/>
            <a:ext cx="2991000" cy="12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robust execution engine that validates submissions against multiple test scenarios. Unlike static checkers, it supports varied valid coding approaches and provides instant logical feedback.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828675" y="4674393"/>
            <a:ext cx="229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D4FF"/>
                </a:solidFill>
                <a:latin typeface="Inter"/>
                <a:ea typeface="Inter"/>
                <a:cs typeface="Inter"/>
                <a:sym typeface="Inter"/>
              </a:rPr>
              <a:t>TEACHER SUITE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863203" y="4912518"/>
            <a:ext cx="2229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CRUD operations for subjects, topics, and difficulty constraints.</a:t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3574256" y="4674393"/>
            <a:ext cx="229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D4FF"/>
                </a:solidFill>
                <a:latin typeface="Inter"/>
                <a:ea typeface="Inter"/>
                <a:cs typeface="Inter"/>
                <a:sym typeface="Inter"/>
              </a:rPr>
              <a:t>REAL-TIME IDE</a:t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3594496" y="4912518"/>
            <a:ext cx="2257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Integrated browser-based code editor with syntax highlighting.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6319837" y="4674393"/>
            <a:ext cx="229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D4FF"/>
                </a:solidFill>
                <a:latin typeface="Inter"/>
                <a:ea typeface="Inter"/>
                <a:cs typeface="Inter"/>
                <a:sym typeface="Inter"/>
              </a:rPr>
              <a:t>SOCIAL LAYER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6502003" y="4912518"/>
            <a:ext cx="1933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Global leaderboards, experience points (XP), and badge unlocks.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9065418" y="4674393"/>
            <a:ext cx="229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D4FF"/>
                </a:solidFill>
                <a:latin typeface="Inter"/>
                <a:ea typeface="Inter"/>
                <a:cs typeface="Inter"/>
                <a:sym typeface="Inter"/>
              </a:rPr>
              <a:t>LOGIC ANALYTICS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9138046" y="4912518"/>
            <a:ext cx="2152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Heatmaps and detailed performance logs for individual concepts.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 txBox="1"/>
          <p:nvPr/>
        </p:nvSpPr>
        <p:spPr>
          <a:xfrm>
            <a:off x="962025" y="581025"/>
            <a:ext cx="459057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771525" y="581025"/>
            <a:ext cx="57300" cy="102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771525" y="2333625"/>
            <a:ext cx="479059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Poppins"/>
                <a:ea typeface="Poppins"/>
                <a:cs typeface="Poppins"/>
                <a:sym typeface="Poppins"/>
              </a:rPr>
              <a:t>THE STACK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771525" y="3228975"/>
            <a:ext cx="456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D4FF"/>
                </a:solidFill>
                <a:latin typeface="Poppins"/>
                <a:ea typeface="Poppins"/>
                <a:cs typeface="Poppins"/>
                <a:sym typeface="Poppins"/>
              </a:rPr>
              <a:t>Modules: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258" name="Google Shape;2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62250"/>
            <a:ext cx="13049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1700" y="2762250"/>
            <a:ext cx="14192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86175" y="2762250"/>
            <a:ext cx="13144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9"/>
          <p:cNvSpPr txBox="1"/>
          <p:nvPr/>
        </p:nvSpPr>
        <p:spPr>
          <a:xfrm>
            <a:off x="1152525" y="3646140"/>
            <a:ext cx="4181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Authentication &amp; Security Module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1152525" y="4141440"/>
            <a:ext cx="4181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Subject Management Module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1152525" y="4636740"/>
            <a:ext cx="4181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Game Engine &amp; Evaluation Engine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1152525" y="5132050"/>
            <a:ext cx="4697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Content Generator (OpenAI/Gemini/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Local LLM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1152525" y="5627340"/>
            <a:ext cx="4181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Analytics &amp; Leaderboard Module</a:t>
            </a:r>
            <a:endParaRPr/>
          </a:p>
        </p:txBody>
      </p:sp>
      <p:pic>
        <p:nvPicPr>
          <p:cNvPr descr="image.png" id="266" name="Google Shape;26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69852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419382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468912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1525" y="518442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1525" y="567972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9"/>
          <p:cNvPicPr preferRelativeResize="0"/>
          <p:nvPr/>
        </p:nvPicPr>
        <p:blipFill rotWithShape="1">
          <a:blip r:embed="rId12">
            <a:alphaModFix/>
          </a:blip>
          <a:srcRect b="6806" l="0" r="0" t="3403"/>
          <a:stretch/>
        </p:blipFill>
        <p:spPr>
          <a:xfrm>
            <a:off x="6814375" y="101675"/>
            <a:ext cx="4847905" cy="652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381625"/>
            <a:ext cx="106489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324225"/>
            <a:ext cx="10648950" cy="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0"/>
          <p:cNvSpPr txBox="1"/>
          <p:nvPr/>
        </p:nvSpPr>
        <p:spPr>
          <a:xfrm>
            <a:off x="962025" y="581025"/>
            <a:ext cx="109813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771525" y="581025"/>
            <a:ext cx="5715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1066800" y="5676900"/>
            <a:ext cx="1005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LEARN → APPLY → EVALUATE → IMPROVE → PROGRESS</a:t>
            </a:r>
            <a:endParaRPr/>
          </a:p>
        </p:txBody>
      </p:sp>
      <p:sp>
        <p:nvSpPr>
          <p:cNvPr id="282" name="Google Shape;282;p20"/>
          <p:cNvSpPr/>
          <p:nvPr/>
        </p:nvSpPr>
        <p:spPr>
          <a:xfrm>
            <a:off x="1653703" y="324802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3836714" y="324802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6019725" y="324802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8202736" y="324802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10385747" y="324802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723606" y="2191563"/>
            <a:ext cx="201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D4FF"/>
                </a:solidFill>
                <a:latin typeface="Poppins"/>
                <a:ea typeface="Poppins"/>
                <a:cs typeface="Poppins"/>
                <a:sym typeface="Poppins"/>
              </a:rPr>
              <a:t>Step 1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771525" y="2553738"/>
            <a:ext cx="19167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Teacher creates subject and topics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2906630" y="3550963"/>
            <a:ext cx="201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D4FF"/>
                </a:solidFill>
                <a:latin typeface="Poppins"/>
                <a:ea typeface="Poppins"/>
                <a:cs typeface="Poppins"/>
                <a:sym typeface="Poppins"/>
              </a:rPr>
              <a:t>Step 2</a:t>
            </a:r>
            <a:endParaRPr/>
          </a:p>
        </p:txBody>
      </p:sp>
      <p:sp>
        <p:nvSpPr>
          <p:cNvPr id="290" name="Google Shape;290;p20"/>
          <p:cNvSpPr txBox="1"/>
          <p:nvPr/>
        </p:nvSpPr>
        <p:spPr>
          <a:xfrm>
            <a:off x="2954573" y="3909425"/>
            <a:ext cx="19167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assists in generating level content</a:t>
            </a: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5089677" y="2128838"/>
            <a:ext cx="201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D4FF"/>
                </a:solidFill>
                <a:latin typeface="Poppins"/>
                <a:ea typeface="Poppins"/>
                <a:cs typeface="Poppins"/>
                <a:sym typeface="Poppins"/>
              </a:rPr>
              <a:t>Step 3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5137546" y="2428875"/>
            <a:ext cx="191675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Students play interactive coding games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7272638" y="3526338"/>
            <a:ext cx="201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D4FF"/>
                </a:solidFill>
                <a:latin typeface="Poppins"/>
                <a:ea typeface="Poppins"/>
                <a:cs typeface="Poppins"/>
                <a:sym typeface="Poppins"/>
              </a:rPr>
              <a:t>Step 4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7320545" y="3860175"/>
            <a:ext cx="19167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System evaluates solutions automatically</a:t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9455749" y="2104213"/>
            <a:ext cx="2012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D4FF"/>
                </a:solidFill>
                <a:latin typeface="Poppins"/>
                <a:ea typeface="Poppins"/>
                <a:cs typeface="Poppins"/>
                <a:sym typeface="Poppins"/>
              </a:rPr>
              <a:t>Step 5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9503568" y="2428875"/>
            <a:ext cx="191675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Teacher monitors analytics dashboard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25549"/>
            <a:ext cx="335905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325" y="2125549"/>
            <a:ext cx="3359199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125549"/>
            <a:ext cx="3359050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1"/>
          <p:cNvSpPr txBox="1"/>
          <p:nvPr/>
        </p:nvSpPr>
        <p:spPr>
          <a:xfrm>
            <a:off x="962025" y="581025"/>
            <a:ext cx="109813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EXPECTED OUTCOMES</a:t>
            </a:r>
            <a:endParaRPr/>
          </a:p>
        </p:txBody>
      </p:sp>
      <p:sp>
        <p:nvSpPr>
          <p:cNvPr id="306" name="Google Shape;306;p21"/>
          <p:cNvSpPr/>
          <p:nvPr/>
        </p:nvSpPr>
        <p:spPr>
          <a:xfrm>
            <a:off x="771525" y="581025"/>
            <a:ext cx="5715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997587" y="3078050"/>
            <a:ext cx="290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Poppins"/>
                <a:ea typeface="Poppins"/>
                <a:cs typeface="Poppins"/>
                <a:sym typeface="Poppins"/>
              </a:rPr>
              <a:t>Educational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4642384" y="3078050"/>
            <a:ext cx="290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Poppins"/>
                <a:ea typeface="Poppins"/>
                <a:cs typeface="Poppins"/>
                <a:sym typeface="Poppins"/>
              </a:rPr>
              <a:t>Technical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8287337" y="3078050"/>
            <a:ext cx="290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Poppins"/>
                <a:ea typeface="Poppins"/>
                <a:cs typeface="Poppins"/>
                <a:sym typeface="Poppins"/>
              </a:rPr>
              <a:t>User Experience</a:t>
            </a:r>
            <a:endParaRPr/>
          </a:p>
        </p:txBody>
      </p:sp>
      <p:pic>
        <p:nvPicPr>
          <p:cNvPr descr="image.png" id="310" name="Google Shape;31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84362" y="24589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1"/>
          <p:cNvSpPr txBox="1"/>
          <p:nvPr/>
        </p:nvSpPr>
        <p:spPr>
          <a:xfrm>
            <a:off x="1066800" y="3506675"/>
            <a:ext cx="276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Improved engagement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1066800" y="3811475"/>
            <a:ext cx="276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Better conceptual logic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1066800" y="4116275"/>
            <a:ext cx="276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Enhanced logical thinking</a:t>
            </a:r>
            <a:endParaRPr/>
          </a:p>
        </p:txBody>
      </p:sp>
      <p:pic>
        <p:nvPicPr>
          <p:cNvPr descr="image.png" id="314" name="Google Shape;31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351" y="24589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1"/>
          <p:cNvSpPr txBox="1"/>
          <p:nvPr/>
        </p:nvSpPr>
        <p:spPr>
          <a:xfrm>
            <a:off x="4711600" y="3506675"/>
            <a:ext cx="2768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Scalable full-stack system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4711600" y="3811475"/>
            <a:ext cx="2768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Structured content architecture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4711600" y="4421075"/>
            <a:ext cx="2768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Reusable generation pipeline</a:t>
            </a:r>
            <a:endParaRPr/>
          </a:p>
        </p:txBody>
      </p:sp>
      <p:pic>
        <p:nvPicPr>
          <p:cNvPr descr="image.png" id="318" name="Google Shape;31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02675" y="24589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1"/>
          <p:cNvSpPr txBox="1"/>
          <p:nvPr/>
        </p:nvSpPr>
        <p:spPr>
          <a:xfrm>
            <a:off x="8356550" y="3506675"/>
            <a:ext cx="276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Interactive experience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8356550" y="3811475"/>
            <a:ext cx="276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Measurable improvement</a:t>
            </a:r>
            <a:endParaRPr/>
          </a:p>
        </p:txBody>
      </p:sp>
      <p:sp>
        <p:nvSpPr>
          <p:cNvPr id="321" name="Google Shape;321;p21"/>
          <p:cNvSpPr txBox="1"/>
          <p:nvPr/>
        </p:nvSpPr>
        <p:spPr>
          <a:xfrm>
            <a:off x="8356550" y="4116275"/>
            <a:ext cx="276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Competitive motivation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6" name="Google Shape;3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97472"/>
            <a:ext cx="5038725" cy="312970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2"/>
          <p:cNvSpPr txBox="1"/>
          <p:nvPr/>
        </p:nvSpPr>
        <p:spPr>
          <a:xfrm>
            <a:off x="962025" y="1079982"/>
            <a:ext cx="109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ENHANCEMENTS</a:t>
            </a:r>
            <a:endParaRPr/>
          </a:p>
        </p:txBody>
      </p:sp>
      <p:sp>
        <p:nvSpPr>
          <p:cNvPr id="329" name="Google Shape;329;p22"/>
          <p:cNvSpPr/>
          <p:nvPr/>
        </p:nvSpPr>
        <p:spPr>
          <a:xfrm>
            <a:off x="771525" y="1079982"/>
            <a:ext cx="57300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2"/>
          <p:cNvSpPr txBox="1"/>
          <p:nvPr/>
        </p:nvSpPr>
        <p:spPr>
          <a:xfrm>
            <a:off x="6565820" y="2692747"/>
            <a:ext cx="467058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31" name="Google Shape;331;p22"/>
          <p:cNvSpPr txBox="1"/>
          <p:nvPr/>
        </p:nvSpPr>
        <p:spPr>
          <a:xfrm>
            <a:off x="6677025" y="3235672"/>
            <a:ext cx="4448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"Game-based learning combined with AI can transform programming education into an engaging experience."</a:t>
            </a:r>
            <a:endParaRPr/>
          </a:p>
        </p:txBody>
      </p:sp>
      <p:sp>
        <p:nvSpPr>
          <p:cNvPr id="332" name="Google Shape;332;p22"/>
          <p:cNvSpPr txBox="1"/>
          <p:nvPr/>
        </p:nvSpPr>
        <p:spPr>
          <a:xfrm>
            <a:off x="1152525" y="2724001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Additional programming languages</a:t>
            </a:r>
            <a:endParaRPr/>
          </a:p>
        </p:txBody>
      </p:sp>
      <p:sp>
        <p:nvSpPr>
          <p:cNvPr id="333" name="Google Shape;333;p22"/>
          <p:cNvSpPr txBox="1"/>
          <p:nvPr/>
        </p:nvSpPr>
        <p:spPr>
          <a:xfrm>
            <a:off x="1152525" y="3219301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Adaptive difficulty using AI</a:t>
            </a:r>
            <a:endParaRPr/>
          </a:p>
        </p:txBody>
      </p:sp>
      <p:sp>
        <p:nvSpPr>
          <p:cNvPr id="334" name="Google Shape;334;p22"/>
          <p:cNvSpPr txBox="1"/>
          <p:nvPr/>
        </p:nvSpPr>
        <p:spPr>
          <a:xfrm>
            <a:off x="1152525" y="3714601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Multiplayer challenge mode</a:t>
            </a:r>
            <a:endParaRPr/>
          </a:p>
        </p:txBody>
      </p:sp>
      <p:sp>
        <p:nvSpPr>
          <p:cNvPr id="335" name="Google Shape;335;p22"/>
          <p:cNvSpPr txBox="1"/>
          <p:nvPr/>
        </p:nvSpPr>
        <p:spPr>
          <a:xfrm>
            <a:off x="1152525" y="4209901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Integration with LMS platforms</a:t>
            </a:r>
            <a:endParaRPr/>
          </a:p>
        </p:txBody>
      </p:sp>
      <p:sp>
        <p:nvSpPr>
          <p:cNvPr id="336" name="Google Shape;336;p22"/>
          <p:cNvSpPr txBox="1"/>
          <p:nvPr/>
        </p:nvSpPr>
        <p:spPr>
          <a:xfrm>
            <a:off x="1152525" y="4705201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Personalized learning paths</a:t>
            </a:r>
            <a:endParaRPr/>
          </a:p>
        </p:txBody>
      </p:sp>
      <p:sp>
        <p:nvSpPr>
          <p:cNvPr id="337" name="Google Shape;337;p22"/>
          <p:cNvSpPr txBox="1"/>
          <p:nvPr/>
        </p:nvSpPr>
        <p:spPr>
          <a:xfrm>
            <a:off x="6677025" y="4531072"/>
            <a:ext cx="44481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D4FF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6677025" y="5018633"/>
            <a:ext cx="44481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pic>
        <p:nvPicPr>
          <p:cNvPr descr="image.png" id="339" name="Google Shape;33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77638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27168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76698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426228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4757588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